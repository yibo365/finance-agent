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黄金 vs 比特币：谁更配「避险与抗通胀」标签？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核心发现：两资产避险属性存在根本差异且情境高度依赖 | 2021.07 - 2026.07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一、核心结论：情境高度依赖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黄金与比特币：避险属性存在根本差异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黄金仍是经典地缘避险首选——在战争、冲突等传统风险事件中稳健上涨或小幅下跌，但并非无风险：2026年单日曾出现 -11.37% 的极端波动</a:t>
            </a:r>
          </a:p>
          <a:p>
            <a:pPr/>
            <a:r>
              <a:t>比特币避险属性仅在银行危机类事件中成立——SVB 事件中 BTC 大涨，体现「数字黄金」叙事；但在传统地缘冲突中与风险资产同步下跌</a:t>
            </a:r>
          </a:p>
          <a:p>
            <a:pPr/>
            <a:r>
              <a:t>特朗普2024年11月胜选成为两资产走势分化的分水岭：黄金因地缘不确定性升温而获支撑，比特币因政策利好预期而独立暴涨</a:t>
            </a:r>
          </a:p>
          <a:p>
            <a:pPr/>
            <a:r>
              <a:t>核心判断：不存在「谁更好」的普适答案；选哪个取决于你面对的是哪类风险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78C"/>
                </a:solidFill>
              </a:defRPr>
            </a:pPr>
            <a:r>
              <a:t>溯源：ev-s-20260704-5294-1、ev-s-20260704-5294-3  ｜  黄金 2026 年单日 -11.37% 波动来自回测底稿原始数据；SVB 事件 BTC 表现来自策略报告事件对齐分析章节。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二、六维情景对比矩阵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同一风险事件，黄金与比特币的反应方向截然不同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412480" cy="2606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72291">
                <a:tc>
                  <a:txBody>
                    <a:bodyPr/>
                    <a:lstStyle/>
                    <a:p>
                      <a:r>
                        <a:t>风险情景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黄金 (GC=F)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比特币 (BTC-USD)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谁更符合避险定义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t>地缘战争（俄乌、中东）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经典避险 rally，价格上涨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风险资产属性，与股市同跌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黄金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t>银行危机（SVB 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避险上涨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「数字黄金」叙事兑现，大涨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两者均涨，BTC 弹性更大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t>激进加息（2022 美联储）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承压 drawdown，但跌幅可控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持续下跌，对流动性高度敏感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黄金（跌幅更浅）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t>流动性危机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小幅下跌，波动可控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暴跌 -20% 以上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黄金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t>政策利好（特朗普胜选、加密 ETF）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温和反应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暴涨 +9% 至 +56%（事件驱动）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取决于目标：避险选黄金，弹性选 BTC</a:t>
                      </a:r>
                    </a:p>
                  </a:txBody>
                  <a:tcPr/>
                </a:tc>
              </a:tr>
              <a:tr h="372293">
                <a:tc>
                  <a:txBody>
                    <a:bodyPr/>
                    <a:lstStyle/>
                    <a:p>
                      <a:r>
                        <a:t>衰退恐慌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避险需求 + 流动性压力双重博弈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风险资产属性主导，先跌后视宽松预期反弹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黄金（波动路径更平稳）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78C"/>
                </a:solidFill>
              </a:defRPr>
            </a:pPr>
            <a:r>
              <a:t>溯源：ev-s-20260704-5294-1、ev-s-20260704-5294-3  ｜  情景分类依据策略报告中的事件对齐分析；各情景下资产表现来自回测底稿对应窗口的收益计算。本表为方向性总结，具体幅度因事件而异。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特朗普胜选：两资产分化的分水岭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黄金逻辑：特朗普政策纲领蕴含地缘不确定性（关税升级、盟友关系重塑），避险需求推升金价至历史新高区间</a:t>
            </a:r>
          </a:p>
          <a:p>
            <a:pPr/>
            <a:r>
              <a:t>比特币逻辑：特朗普明确表态支持加密货币、承诺建立比特币国家战略储备，市场定价「政策红利」——BTC 单日一度暴涨超 9%</a:t>
            </a:r>
          </a:p>
          <a:p>
            <a:pPr/>
            <a:r>
              <a:t>两资产在「特朗普交易」中从弱相关变为同涨，但驱动逻辑完全不同：黄金是「不确定性溢价」，比特币是「政策期权定价」</a:t>
            </a:r>
          </a:p>
          <a:p>
            <a:pPr/>
            <a:r>
              <a:t>启示：同一事件可以同时利好黄金与比特币，但逻辑链条独立——组合配置中二者可以互补而非互斥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78C"/>
                </a:solidFill>
              </a:defRPr>
            </a:pPr>
            <a:r>
              <a:t>溯源：ev-s-20260704-5294-1、ev-s-20260704-5294-3  ｜  特朗普胜选日为 2024年11月5日；BTC 暴涨数据来自回测底稿当日收益率；黄金新高区间数据来自原始 OHLCV。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三、失效条件与配置框架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「黄金是更好避险资产」的失效条件清单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美元系统性信用危机或恶性通胀（尾部风险）：实物黄金可交割性受限，比特币无国界转移特性可能结构性占优</a:t>
            </a:r>
          </a:p>
          <a:p>
            <a:pPr/>
            <a:r>
              <a:t>比特币波动率结构性下行（ETF 规模 + 监管成熟度）：若年化波动率降至 30% 以下，BTC 与黄金的避险差距将大幅缩小</a:t>
            </a:r>
          </a:p>
          <a:p>
            <a:pPr/>
            <a:r>
              <a:t>全球央行数字货币（CBDC）广泛部署附带交易审查：比特币「抗审查价值」可能推升独立需求，但政策打压风险同步上升</a:t>
            </a:r>
          </a:p>
          <a:p>
            <a:pPr/>
            <a:r>
              <a:t>新宏观范式出现：若黄金与比特币从弱相关转为持续正相关（60日滚动相关性 &gt; 0.6），当前「互补配置」逻辑将失效</a:t>
            </a:r>
          </a:p>
          <a:p>
            <a:pPr/>
            <a:r>
              <a:t>2021-2026 样本局限性：本框架覆盖了一个完整加息周期与多轮危机，但未经历真正的全球滞胀或美元崩盘——极端尾部未定价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78C"/>
                </a:solidFill>
              </a:defRPr>
            </a:pPr>
            <a:r>
              <a:t>溯源：ev-s-20260704-5294-1、ev-s-20260704-5294-3  ｜  失效条件清单不构成预测，而是决策者「何时重新审视结论」的观察清单。相关性阈值 0.6 来自回测底稿 60 日滚动相关性数据分布。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配置框架：黄金是「保险」，比特币是「非对称机会」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保守型——资本保全优先：黄金权重显著高于比特币；BTC 作为 1-3% 的卫星仓位，仅在银行危机/政策利好情景中提供非对称回报</a:t>
            </a:r>
          </a:p>
          <a:p>
            <a:pPr/>
            <a:r>
              <a:t>平衡型——经风险调整后收益：利用两资产弱相关性（五年均值约 0.1-0.3），通过季度再平衡获取波动率溢价；核心逻辑是「不同情景下赢家不同」</a:t>
            </a:r>
          </a:p>
          <a:p>
            <a:pPr/>
            <a:r>
              <a:t>进取型——绝对收益导向：BTC 高配但必须接受 50-77% 级别回撤；黄金在此组合中充当加密尾部风险的对冲工具而非主要收益来源</a:t>
            </a:r>
          </a:p>
          <a:p>
            <a:pPr/>
            <a:r>
              <a:t>通用原则：不要问「黄金还是比特币」，而要问「我在对冲哪种风险」——情景矩阵的每一行对应不同的最优资产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78C"/>
                </a:solidFill>
              </a:defRPr>
            </a:pPr>
            <a:r>
              <a:t>溯源：ev-s-20260704-5294-1、ev-s-20260704-5294-3  ｜  以上为基于五年回测数据的框架性讨论，不构成具体投资建议。实际配置需结合个人风险承受能力、投资期限与流动性需求。相关性数据来自回测底稿指标 sheet。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 | 溯源详见末页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所有指标可追溯至 gold-btc-backtest.xlsx 与 gold-btc-strategy-report.docx | 数据来源：Yahoo Finance | 回测区间 2021.07-2026.07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数据来源与溯源清单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100"/>
            </a:pPr>
            <a:r>
              <a:t>ev-s-20260704-5294-1［market_data］https://query1.finance.yahoo.com/v8/finance/chart/GC=F?period1=1625356800&amp;period2=1783209600&amp;interval=1d&amp;events=history（2026-07-04T04:10:06+00:00）</a:t>
            </a:r>
          </a:p>
          <a:p>
            <a:pPr>
              <a:defRPr sz="1100"/>
            </a:pPr>
            <a:r>
              <a:t>ev-s-20260704-5294-2［computation］evidence:ev-s-20260704-5294-1（2026-07-04T04:10:11+00:00）</a:t>
            </a:r>
          </a:p>
          <a:p>
            <a:pPr>
              <a:defRPr sz="1100"/>
            </a:pPr>
            <a:r>
              <a:t>ev-s-20260704-5294-3［market_data］https://query1.finance.yahoo.com/v8/finance/chart/BTC-USD?period1=1625356800&amp;period2=1783209600&amp;interval=1d&amp;events=history（2026-07-04T04:10:18+00:00）</a:t>
            </a:r>
          </a:p>
          <a:p>
            <a:pPr>
              <a:defRPr sz="1100"/>
            </a:pPr>
            <a:r>
              <a:t>ev-s-20260704-5294-4［computation］evidence:ev-s-20260704-5294-3（2026-07-04T04:10:20+00:00）</a:t>
            </a:r>
          </a:p>
          <a:p>
            <a:pPr>
              <a:defRPr sz="1100"/>
            </a:pPr>
            <a:r>
              <a:t>ev-s-20260704-5294-5［computation］evidence:ev-s-20260704-5294-3（2026-07-04T04:10:28+00:00）</a:t>
            </a:r>
          </a:p>
          <a:p>
            <a:pPr>
              <a:defRPr sz="1100"/>
            </a:pPr>
            <a:r>
              <a:t>ev-s-20260704-5294-6［search］https://www.sec.gov/newsroom/speeches-statements/gensler-statement-spot-bitcoin-011023（2026-07-04T04:13:07+00:00）</a:t>
            </a:r>
          </a:p>
          <a:p>
            <a:pPr>
              <a:defRPr sz="1100"/>
            </a:pPr>
            <a:r>
              <a:t>ev-s-20260704-5294-7［search］https://www.reuters.com/technology/artificial-intelligence/what-is-deepseek-why-is-it-disrupting-ai-sector-2025-01-27/（2026-07-04T04:13:43+00:00）</a:t>
            </a:r>
          </a:p>
          <a:p>
            <a:pPr>
              <a:defRPr sz="1100"/>
            </a:pPr>
            <a:r>
              <a:t>ev-s-20260704-5294-8［search］https://www.fdic.gov/resources/resolutions/bank-failures/failed-bank-list/silicon-valley.html（2026-07-04T04:13:43+00:00）</a:t>
            </a:r>
          </a:p>
          <a:p>
            <a:pPr>
              <a:defRPr sz="1100"/>
            </a:pPr>
            <a:r>
              <a:t>ev-s-20260704-5294-9［search］https://abcnews.com/Business/timeline-cryptocurrency-exchange-ftxs-historic-collapse/story?id=93337035（2026-07-04T04:14:12+00:00）</a:t>
            </a:r>
          </a:p>
          <a:p>
            <a:pPr>
              <a:defRPr sz="1100"/>
            </a:pPr>
            <a:r>
              <a:t>ev-s-20260704-5294-10［news］https://hn.algolia.com/api/v1/search_by_date?query=Russia+Ukraine&amp;tags=story&amp;hitsPerPage=20&amp;numericFilters=created_at_i%3E%3D1640995200%2Ccreated_at_i%3C%3D1656633599（2026-07-04T04:14:28+00:00）</a:t>
            </a:r>
          </a:p>
          <a:p>
            <a:pPr>
              <a:defRPr sz="1100"/>
            </a:pPr>
            <a:r>
              <a:t>ev-s-20260704-5294-11［news］https://hn.algolia.com/api/v1/search_by_date?query=bitcoin&amp;tags=story&amp;hitsPerPage=20&amp;numericFilters=created_at_i%3E%3D1625097600%2Ccreated_at_i%3C%3D1640995199（2026-07-04T04:14:28+00:00）</a:t>
            </a:r>
          </a:p>
          <a:p>
            <a:pPr>
              <a:defRPr sz="1100"/>
            </a:pPr>
            <a:r>
              <a:t>ev-s-20260704-5294-12［news］https://hn.algolia.com/api/v1/search_by_date?query=gold&amp;tags=story&amp;hitsPerPage=20&amp;numericFilters=created_at_i%3E%3D1625097600%2Ccreated_at_i%3C%3D1640995199（2026-07-04T04:14:28+00:00）</a:t>
            </a:r>
          </a:p>
          <a:p>
            <a:pPr>
              <a:defRPr sz="1100"/>
            </a:pPr>
            <a:r>
              <a:t>ev-s-20260704-5294-13［news］https://hn.algolia.com/api/v1/search_by_date?query=inflation+CPI&amp;tags=story&amp;hitsPerPage=20&amp;numericFilters=created_at_i%3E%3D1625097600%2Ccreated_at_i%3C%3D1640995199（2026-07-04T04:14:28+00:00）</a:t>
            </a:r>
          </a:p>
          <a:p>
            <a:pPr>
              <a:defRPr sz="1100"/>
            </a:pPr>
            <a:r>
              <a:t>ev-s-20260704-5294-14［news］https://hn.algolia.com/api/v1/search_by_date?query=FTX&amp;tags=story&amp;hitsPerPage=20&amp;numericFilters=created_at_i%3E%3D1656633600%2Ccreated_at_i%3C%3D1672531199（2026-07-04T04:14:36+00:00）</a:t>
            </a:r>
          </a:p>
          <a:p>
            <a:pPr>
              <a:defRPr sz="1100"/>
            </a:pPr>
            <a:r>
              <a:t>ev-s-20260704-5294-15［news］https://hn.algolia.com/api/v1/search_by_date?query=SVB&amp;tags=story&amp;hitsPerPage=20&amp;numericFilters=created_at_i%3E%3D1672531200%2Ccreated_at_i%3C%3D1688169599（2026-07-04T04:14:36+00:00）</a:t>
            </a:r>
          </a:p>
          <a:p>
            <a:pPr>
              <a:defRPr sz="1100"/>
            </a:pPr>
            <a:r>
              <a:t>ev-s-20260704-5294-16［news］https://hn.algolia.com/api/v1/search_by_date?query=Fed+rate+hike&amp;tags=story&amp;hitsPerPage=20&amp;numericFilters=created_at_i%3E%3D1640995200%2Ccreated_at_i%3C%3D1656633599（2026-07-04T04:14:36+00:00）</a:t>
            </a:r>
          </a:p>
          <a:p>
            <a:pPr>
              <a:defRPr sz="1100"/>
            </a:pPr>
            <a:r>
              <a:t>ev-s-20260704-5294-17［news］https://hn.algolia.com/api/v1/search_by_date?query=Ukraine+invasion&amp;tags=story&amp;hitsPerPage=20&amp;numericFilters=created_at_i%3E%3D1643673600%2Ccreated_at_i%3C%3D1648771199（2026-07-04T04:14:36+00:00）</a:t>
            </a:r>
          </a:p>
          <a:p>
            <a:pPr>
              <a:defRPr sz="1100"/>
            </a:pPr>
            <a:r>
              <a:t>ev-s-20260704-5294-18［news］https://hn.algolia.com/api/v1/search_by_date?query=banking+crisis&amp;tags=story&amp;hitsPerPage=20&amp;numericFilters=created_at_i%3E%3D1672531200%2Ccreated_at_i%3C%3D1688169599（2026-07-04T04:14:43+00:00）</a:t>
            </a:r>
          </a:p>
          <a:p>
            <a:pPr>
              <a:defRPr sz="1100"/>
            </a:pPr>
            <a:r>
              <a:t>ev-s-20260704-5294-19［news］https://hn.algolia.com/api/v1/search_by_date?query=inflation&amp;tags=story&amp;hitsPerPage=20&amp;numericFilters=created_at_i%3E%3D1688169600%2Ccreated_at_i%3C%3D1704067199（2026-07-04T04:14:43+00:00）</a:t>
            </a:r>
          </a:p>
          <a:p>
            <a:pPr>
              <a:defRPr sz="1100"/>
            </a:pPr>
            <a:r>
              <a:t>ev-s-20260704-5294-20［news］https://hn.algolia.com/api/v1/search_by_date?query=bitcoin+crash&amp;tags=story&amp;hitsPerPage=20&amp;numericFilters=created_at_i%3E%3D1640995200%2Ccreated_at_i%3C%3D1656633599（2026-07-04T04:14:43+00:00）</a:t>
            </a:r>
          </a:p>
          <a:p>
            <a:pPr>
              <a:defRPr sz="1100"/>
            </a:pPr>
            <a:r>
              <a:t>ev-s-20260704-5294-21［news］https://hn.algolia.com/api/v1/search_by_date?query=Bitcoin+ETF&amp;tags=story&amp;hitsPerPage=20&amp;numericFilters=created_at_i%3E%3D1704067200%2Ccreated_at_i%3C%3D1719791999（2026-07-04T04:14:43+00:00）</a:t>
            </a:r>
          </a:p>
          <a:p>
            <a:pPr>
              <a:defRPr sz="1100"/>
            </a:pPr>
            <a:r>
              <a:t>ev-s-20260704-5294-22［search］https://www.reuters.com/markets/commodities/gold-climbs-safe-haven-demand-ahead-us-reciprocal-tariffs-2025-04-02/（2026-07-04T04:15:05+00:00）</a:t>
            </a:r>
          </a:p>
          <a:p>
            <a:pPr>
              <a:defRPr sz="1100"/>
            </a:pPr>
            <a:r>
              <a:t>ev-s-20260704-5294-23［search］https://www.reuters.com/technology/bitcoin-slumps-lowest-month-after-russia-invades-ukraine-2022-02-24/（2026-07-04T04:15:20+00:00）</a:t>
            </a:r>
          </a:p>
          <a:p>
            <a:pPr>
              <a:defRPr sz="1100"/>
            </a:pPr>
            <a:r>
              <a:t>ev-s-20260704-5294-24［search］https://www.cnbc.com/2024/04/19/bitcoin-network-completes-fourth-ever-halving-of-rewards-to-miners.html（2026-07-04T04:15:21+00:00）</a:t>
            </a:r>
          </a:p>
          <a:p>
            <a:pPr>
              <a:defRPr sz="1100"/>
            </a:pPr>
            <a:r>
              <a:t>ev-s-20260704-5294-25［search］https://apnews.com/article/bitcoin-crypto-donald-trump-election-c2e2a1a895288c5e9c0df2721012a5bb（2026-07-04T04:16:22+00:00）</a:t>
            </a:r>
          </a:p>
          <a:p>
            <a:pPr>
              <a:defRPr sz="1100"/>
            </a:pPr>
            <a:r>
              <a:t>ev-s-20260704-5294-26［search］https://www.bls.gov/opub/ted/2022/consumer-prices-up-9-1-percent-over-the-year-ended-june-2022-largest-increase-in-40-years.htm（2026-07-04T04:16:22+00:00）</a:t>
            </a:r>
          </a:p>
          <a:p>
            <a:pPr>
              <a:defRPr sz="1100"/>
            </a:pPr>
            <a:r>
              <a:t>ev-s-20260704-5294-27［search］https://www.federalreserve.gov/newsevents/pressreleases/monetary20240918a.htm（2026-07-04T04:16:22+00:00）</a:t>
            </a:r>
          </a:p>
          <a:p>
            <a:pPr>
              <a:defRPr sz="1100"/>
            </a:pPr>
            <a:r>
              <a:t>ev-s-20260704-5294-28［search］https://www.bloomberg.com/news/articles/2021-08-08/gold-drops-silver-tumbles-after-u-s-jobs-growth-tops-estimates（2026-07-04T04:16:39+00:00）</a:t>
            </a:r>
          </a:p>
          <a:p>
            <a:pPr>
              <a:defRPr sz="1100"/>
            </a:pPr>
            <a:r>
              <a:t>ev-s-20260704-5294-29［search］https://markets.businessinsider.com/news/commodities/gold-price-2000-ounce-russia-ukraine-safe-haven-investing-analysis-2022-3（2026-07-04T04:17:03+00:00）</a:t>
            </a:r>
          </a:p>
          <a:p>
            <a:pPr>
              <a:defRPr sz="1100"/>
            </a:pPr>
            <a:r>
              <a:t>ev-s-20260704-5294-30［search］https://www.congress.gov/crs_external_products/IN/PDF/IN11928/IN11928.1.pdf（2026-07-04T04:17:21+00:00）</a:t>
            </a:r>
          </a:p>
          <a:p>
            <a:pPr>
              <a:defRPr sz="1100"/>
            </a:pPr>
            <a:r>
              <a:t>ev-s-20260704-5294-31［search］https://www.reuters.com/world/china/china-central-bank-vows-crackdown-cryptocurrency-trading-2021-09-24/（2026-07-04T04:17:29+00:00）</a:t>
            </a:r>
          </a:p>
          <a:p>
            <a:pPr>
              <a:defRPr sz="1100"/>
            </a:pPr>
            <a:r>
              <a:t>ev-s-20260704-5294-32［search］https://dipot.ulb.ac.be/dspace/bitstream/2013/345041/3/wp22008.pdf（2026-07-04T04:17:51+00:00）</a:t>
            </a:r>
          </a:p>
          <a:p>
            <a:pPr>
              <a:defRPr sz="1100"/>
            </a:pPr>
            <a:r>
              <a:t>ev-s-20260704-5294-33［search］https://news.qq.com/rain/a/20260131A03F6S00（2026-07-04T04:18:22+00:00）</a:t>
            </a:r>
          </a:p>
          <a:p>
            <a:pPr>
              <a:defRPr sz="1100"/>
            </a:pPr>
            <a:r>
              <a:t>ev-s-20260704-5294-34［search］https://www.cnn.com/2025/01/27/tech/deepseek-stocks-ai-china（2026-07-04T04:18:37+00:00）</a:t>
            </a:r>
          </a:p>
          <a:p>
            <a:pPr>
              <a:defRPr sz="1100"/>
            </a:pPr>
            <a:r>
              <a:t>ev-s-20260704-5294-35［search］https://global.morningstar.com/en-ca/markets/gold-vs-bitcoin-why-safe-haven-debate-is-shifting-2025（2026-07-04T04:18:48+00:00）</a:t>
            </a:r>
          </a:p>
          <a:p>
            <a:pPr>
              <a:defRPr sz="1100"/>
            </a:pPr>
            <a:r>
              <a:t>ev-s-20260704-5294-36［search］https://www.axios.com/2024/04/08/gold-record-highs（2026-07-04T04:19:07+00:00）</a:t>
            </a:r>
          </a:p>
          <a:p>
            <a:pPr>
              <a:defRPr sz="1100"/>
            </a:pPr>
            <a:r>
              <a:t>ev-s-20260704-5294-37［search］https://fortune.com/2025/11/25/bitcoin-price-gold-safe-haven-narrative-over/（2026-07-04T04:20:20+00:00）</a:t>
            </a:r>
          </a:p>
          <a:p>
            <a:pPr>
              <a:defRPr sz="1100"/>
            </a:pPr>
            <a:r>
              <a:t>ev-s-20260704-5294-38［search］https://www.gold.org/goldhub/research/gold-market-commentary-march-2026（2026-07-04T04:20:32+00:00）</a:t>
            </a:r>
          </a:p>
          <a:p>
            <a:pPr>
              <a:defRPr sz="1100"/>
            </a:pPr>
            <a:r>
              <a:t>ev-s-20260704-5294-39［search］https://www.coindesk.com/markets/2024/08/05/bitcoin-drops-15-against-japanese-yen-outpacing-declines-versus-usd-as-yen-carry-trades-unwind（2026-07-04T04:21:11+00:00）</a:t>
            </a:r>
          </a:p>
          <a:p>
            <a:pPr>
              <a:defRPr sz="1100"/>
            </a:pPr>
            <a:r>
              <a:t>ev-s-20260704-5294-40［search］https://www.cnbc.com/2023/12/04/gold-prices-set-for-new-highs-amid-economic-geopolitical-uncertainty.html（2026-07-04T04:22:02+00:00）</a:t>
            </a:r>
          </a:p>
          <a:p>
            <a:pPr>
              <a:defRPr sz="1100"/>
            </a:pPr>
            <a:r>
              <a:t>ev-s-20260704-5294-41［search］https://www.reuters.com/world/middle-east/attack-israel-could-boost-appeal-gold-safe-haven-assets-2023-10-08/（2026-07-04T04:22:08+00:00）</a:t>
            </a:r>
          </a:p>
          <a:p>
            <a:pPr>
              <a:defRPr sz="1100"/>
            </a:pPr>
            <a:r>
              <a:t>ev-s-20260704-5294-42［search］https://www.reuters.com/technology/whats-behind-bitcoins-latest-surge-2023-03-22/（2026-07-04T04:23:31+00:00）</a:t>
            </a:r>
          </a:p>
          <a:p>
            <a:pPr>
              <a:defRPr sz="1100"/>
            </a:pPr>
            <a:r>
              <a:t>ev-s-20260704-5294-43［search］https://www.financemagnates.com/trending/why-is-gold-crashing-how-low-can-gold-go-and-gold-price-prediction-2026/（2026-07-04T04:23:42+00:00）</a:t>
            </a:r>
          </a:p>
          <a:p>
            <a:pPr>
              <a:defRPr sz="1100"/>
            </a:pPr>
            <a:r>
              <a:t>ev-s-20260704-5294-44［search］https://www.gold.org/goldhub/research/gold-market-commentary-november-2021（2026-07-04T04:24:31+00:00）</a:t>
            </a:r>
          </a:p>
          <a:p>
            <a:pPr>
              <a:defRPr sz="1100"/>
            </a:pPr>
            <a:r>
              <a:t>ev-s-20260704-5294-45［news］https://query1.finance.yahoo.com/v1/finance/search?q=gold+bitcoin+safe+haven+2025&amp;quotesCount=0&amp;newsCount=10（2026-07-04T04:24:51+00:00）</a:t>
            </a:r>
          </a:p>
          <a:p>
            <a:pPr>
              <a:defRPr sz="1100"/>
            </a:pPr>
            <a:r>
              <a:t>ev-s-20260704-5294-46［search］https://www.cnbc.com/2025/01/20/bitcoin-jumps-to-a-new-record-as-traders-cheer-trump-inauguration-meme-coins.html（2026-07-04T04:25:16+00:00）</a:t>
            </a:r>
          </a:p>
          <a:p>
            <a:pPr>
              <a:defRPr sz="1100"/>
            </a:pPr>
            <a:r>
              <a:t>ev-s-20260704-5294-47［search］https://en.wikipedia.org/wiki/2022_Russian_invasion_of_Ukraine（2026-07-04T04:27:52+00:00）</a:t>
            </a:r>
          </a:p>
          <a:p>
            <a:pPr>
              <a:defRPr sz="1100"/>
            </a:pPr>
            <a:r>
              <a:t>ev-s-20260704-5294-48［search］https://www.cnbc.com/2024/04/19/bitcoin-network-completes-fourth-ever-halving-of-rewards-to-miners.html（2026-07-04T04:27:57+00:00）</a:t>
            </a:r>
          </a:p>
          <a:p>
            <a:pPr>
              <a:defRPr sz="1100"/>
            </a:pPr>
            <a:r>
              <a:t>ev-s-20260704-5294-49［search］https://www.sec.gov/newsroom/speeches-statements/gensler-statement-spot-bitcoin-011023（2026-07-04T04:27:59+00:00）</a:t>
            </a:r>
          </a:p>
          <a:p>
            <a:pPr>
              <a:defRPr sz="1100"/>
            </a:pPr>
            <a:r>
              <a:t>ev-s-20260704-5294-50［search］https://www.fdic.gov/resources/resolutions/bank-failures/failed-bank-list/silicon-valley.html（2026-07-04T04:28:09+00:00）</a:t>
            </a:r>
          </a:p>
          <a:p>
            <a:pPr>
              <a:defRPr sz="1100"/>
            </a:pPr>
            <a:r>
              <a:t>ev-s-20260704-5294-51［search］https://www.reuters.com/business/ftx-start-us-bankruptcy-proceedings-ceo-exit-2022-11-11/（2026-07-04T04:28:10+00:00）</a:t>
            </a:r>
          </a:p>
          <a:p>
            <a:pPr>
              <a:defRPr sz="1100"/>
            </a:pPr>
            <a:r>
              <a:t>ev-s-20260704-5294-52［news］https://hn.algolia.com/api/v1/search_by_date?query=gold&amp;tags=story&amp;hitsPerPage=20&amp;numericFilters=created_at_i%3E%3D1624752000%2Ccreated_at_i%3C%3D1640995199（2026-07-04T04:28:39+00:00）</a:t>
            </a:r>
          </a:p>
          <a:p>
            <a:pPr>
              <a:defRPr sz="1100"/>
            </a:pPr>
            <a:r>
              <a:t>ev-s-20260704-5294-53［news］https://hn.algolia.com/api/v1/search_by_date?query=taper&amp;tags=story&amp;hitsPerPage=20&amp;numericFilters=created_at_i%3E%3D1624752000%2Ccreated_at_i%3C%3D1640995199（2026-07-04T04:28:40+00:00）</a:t>
            </a:r>
          </a:p>
          <a:p>
            <a:pPr>
              <a:defRPr sz="1100"/>
            </a:pPr>
            <a:r>
              <a:t>ev-s-20260704-5294-54［news］https://hn.algolia.com/api/v1/search_by_date?query=bitcoin&amp;tags=story&amp;hitsPerPage=30&amp;numericFilters=created_at_i%3E%3D1624752000%2Ccreated_at_i%3C%3D1640995199（2026-07-04T04:28:40+00:00）</a:t>
            </a:r>
          </a:p>
          <a:p>
            <a:pPr>
              <a:defRPr sz="1100"/>
            </a:pPr>
            <a:r>
              <a:t>ev-s-20260704-5294-55［news］https://hn.algolia.com/api/v1/search_by_date?query=inflation&amp;tags=story&amp;hitsPerPage=30&amp;numericFilters=created_at_i%3E%3D1624752000%2Ccreated_at_i%3C%3D1640995199（2026-07-04T04:28:41+00:00）</a:t>
            </a:r>
          </a:p>
          <a:p>
            <a:pPr>
              <a:defRPr sz="1100"/>
            </a:pPr>
            <a:r>
              <a:t>ev-s-20260704-5294-56［news］https://hn.algolia.com/api/v1/search_by_date?query=SVB&amp;tags=story&amp;hitsPerPage=30&amp;numericFilters=created_at_i%3E%3D1677628800%2Ccreated_at_i%3C%3D1680307199（2026-07-04T04:28:50+00:00）</a:t>
            </a:r>
          </a:p>
          <a:p>
            <a:pPr>
              <a:defRPr sz="1100"/>
            </a:pPr>
            <a:r>
              <a:t>ev-s-20260704-5294-57［news］https://hn.algolia.com/api/v1/search_by_date?query=FTX&amp;tags=story&amp;hitsPerPage=30&amp;numericFilters=created_at_i%3E%3D1666828800%2Ccreated_at_i%3C%3D1672531199（2026-07-04T04:28:50+00:00）</a:t>
            </a:r>
          </a:p>
          <a:p>
            <a:pPr>
              <a:defRPr sz="1100"/>
            </a:pPr>
            <a:r>
              <a:t>ev-s-20260704-5294-58［news］https://hn.algolia.com/api/v1/search_by_date?query=Ukraine&amp;tags=story&amp;hitsPerPage=30&amp;numericFilters=created_at_i%3E%3D1645056000%2Ccreated_at_i%3C%3D1647388799（2026-07-04T04:28:50+00:00）</a:t>
            </a:r>
          </a:p>
          <a:p>
            <a:pPr>
              <a:defRPr sz="1100"/>
            </a:pPr>
            <a:r>
              <a:t>ev-s-20260704-5294-59［news］https://hn.algolia.com/api/v1/search_by_date?query=fed&amp;tags=story&amp;hitsPerPage=30&amp;numericFilters=created_at_i%3E%3D1640390400%2Ccreated_at_i%3C%3D1656633599（2026-07-04T04:28:50+00:00）</a:t>
            </a:r>
          </a:p>
          <a:p>
            <a:pPr>
              <a:defRPr sz="1100"/>
            </a:pPr>
            <a:r>
              <a:t>ev-s-20260704-5294-60［search］https://www.bls.gov/news.release/archives/cpi_07132022.htm（2026-07-04T04:29:17+00:00）</a:t>
            </a:r>
          </a:p>
          <a:p>
            <a:pPr>
              <a:defRPr sz="1100"/>
            </a:pPr>
            <a:r>
              <a:t>ev-s-20260704-5294-61［search］https://www.csis.org/analysis/liberation-day-tariffs-explained（2026-07-04T04:29:29+00:00）</a:t>
            </a:r>
          </a:p>
          <a:p>
            <a:pPr>
              <a:defRPr sz="1100"/>
            </a:pPr>
            <a:r>
              <a:t>ev-s-20260704-5294-62［search］https://www.reuters.com/technology/bitcoin-become-legal-tender-el-salvador-sept-7-2021-06-25/（2026-07-04T04:29:30+00:00）</a:t>
            </a:r>
          </a:p>
          <a:p>
            <a:pPr>
              <a:defRPr sz="1100"/>
            </a:pPr>
            <a:r>
              <a:t>ev-s-20260704-5294-63［search］https://www.reuters.com/world/us/all-systems-go-feds-liftoff-us-interest-rates-2022-03-16/（2026-07-04T04:29:39+00:00）</a:t>
            </a:r>
          </a:p>
          <a:p>
            <a:pPr>
              <a:defRPr sz="1100"/>
            </a:pPr>
            <a:r>
              <a:t>ev-s-20260704-5294-64［search］https://www.reuters.com/world/middle-east/attack-israel-could-boost-appeal-gold-safe-haven-assets-2023-10-08/（2026-07-04T04:30:17+00:00）</a:t>
            </a:r>
          </a:p>
          <a:p>
            <a:pPr>
              <a:defRPr sz="1100"/>
            </a:pPr>
            <a:r>
              <a:t>ev-s-20260704-5294-65［search］https://www.reuters.com/markets/europe/fed-lift-rates-by-75-basis-points-july-50-bps-september-2022-06-22/（2026-07-04T04:30:17+00:00）</a:t>
            </a:r>
          </a:p>
          <a:p>
            <a:pPr>
              <a:defRPr sz="1100"/>
            </a:pPr>
            <a:r>
              <a:t>ev-s-20260704-5294-66［search］https://www.reuters.com/technology/bitcoin-surges-record-high-trump-bets-2024-11-11/（2026-07-04T04:30:42+00:00）</a:t>
            </a:r>
          </a:p>
          <a:p>
            <a:pPr>
              <a:defRPr sz="1100"/>
            </a:pPr>
            <a:r>
              <a:t>ev-s-20260704-5294-67［search］https://www.reuters.com/world/us/biden-signs-bill-lifting-us-debt-limit-2023-06-03/（2026-07-04T04:30:54+00:00）</a:t>
            </a:r>
          </a:p>
          <a:p>
            <a:pPr>
              <a:defRPr sz="1100"/>
            </a:pPr>
            <a:r>
              <a:t>ev-s-20260704-5294-68［news］https://hn.algolia.com/api/v1/search_by_date?query=gold&amp;tags=story&amp;hitsPerPage=20&amp;numericFilters=created_at_i%3E%3D1677628800%2Ccreated_at_i%3C%3D1688169599（2026-07-04T04:31:05+00:00）</a:t>
            </a:r>
          </a:p>
          <a:p>
            <a:pPr>
              <a:defRPr sz="1100"/>
            </a:pPr>
            <a:r>
              <a:t>ev-s-20260704-5294-69［news］https://hn.algolia.com/api/v1/search_by_date?query=inflation&amp;tags=story&amp;hitsPerPage=30&amp;numericFilters=created_at_i%3E%3D1656288000%2Ccreated_at_i%3C%3D1657929599（2026-07-04T04:31:05+00:00）</a:t>
            </a:r>
          </a:p>
          <a:p>
            <a:pPr>
              <a:defRPr sz="1100"/>
            </a:pPr>
            <a:r>
              <a:t>ev-s-20260704-5294-70［news］https://hn.algolia.com/api/v1/search_by_date?query=bitcoin&amp;tags=story&amp;hitsPerPage=30&amp;numericFilters=created_at_i%3E%3D1672531200%2Ccreated_at_i%3C%3D1688169599（2026-07-04T04:31:05+00:00）</a:t>
            </a:r>
          </a:p>
          <a:p>
            <a:pPr>
              <a:defRPr sz="1100"/>
            </a:pPr>
            <a:r>
              <a:t>ev-s-20260704-5294-71［search］https://www.reuters.com/world/americas/lawmakers-el-salvador-rush-new-bitcoin-reform-after-imf-deal-2025-01-30/（2026-07-04T04:31:34+00:00）</a:t>
            </a:r>
          </a:p>
          <a:p>
            <a:pPr>
              <a:defRPr sz="1100"/>
            </a:pPr>
            <a:r>
              <a:t>ev-s-20260704-5294-72［news］https://hn.algolia.com/api/v1/search_by_date?query=bitcoin&amp;tags=story&amp;hitsPerPage=30&amp;numericFilters=created_at_i%3E%3D1704067200%2Ccreated_at_i%3C%3D1719791999（2026-07-04T04:31:42+00:00）</a:t>
            </a:r>
          </a:p>
          <a:p>
            <a:pPr>
              <a:defRPr sz="1100"/>
            </a:pPr>
            <a:r>
              <a:t>ev-s-20260704-5294-73［news］https://hn.algolia.com/api/v1/search_by_date?query=bitcoin&amp;tags=story&amp;hitsPerPage=30&amp;numericFilters=created_at_i%3E%3D1727740800%2Ccreated_at_i%3C%3D1735689599（2026-07-04T04:31:42+00:00）</a:t>
            </a:r>
          </a:p>
          <a:p>
            <a:pPr>
              <a:defRPr sz="1100"/>
            </a:pPr>
            <a:r>
              <a:t>ev-s-20260704-5294-74［news］https://hn.algolia.com/api/v1/search_by_date?query=gold&amp;tags=story&amp;hitsPerPage=30&amp;numericFilters=created_at_i%3E%3D1694736000%2Ccreated_at_i%3C%3D1704067199（2026-07-04T04:31:42+00:00）</a:t>
            </a:r>
          </a:p>
          <a:p>
            <a:pPr>
              <a:defRPr sz="1100"/>
            </a:pPr>
            <a:r>
              <a:t>ev-s-20260704-5294-75［search］https://www.cbsnews.com/news/have-gold-prices-peaked-for-2024-heres-what-experts-say/（2026-07-04T04:32:44+00:00）</a:t>
            </a:r>
          </a:p>
          <a:p>
            <a:pPr>
              <a:defRPr sz="1100"/>
            </a:pPr>
            <a:r>
              <a:t>ev-s-20260704-5294-76［search］https://www.reuters.com/technology/artificial-intelligence/what-is-deepseek-why-is-it-disrupting-ai-sector-2025-01-27/（2026-07-04T04:33:21+00:00）</a:t>
            </a:r>
          </a:p>
          <a:p>
            <a:pPr>
              <a:defRPr sz="1100"/>
            </a:pPr>
            <a:r>
              <a:t>ev-s-20260704-5294-77［search］https://www.federalreserve.gov/newsevents/pressreleases/monetary20240918a.htm（2026-07-04T04:33:27+00:00）</a:t>
            </a:r>
          </a:p>
          <a:p>
            <a:pPr>
              <a:defRPr sz="1100"/>
            </a:pPr>
            <a:r>
              <a:t>ev-s-20260704-5294-78［search］https://www.bloomberg.com/news/articles/2025-03-14/gold-breaks-through-3-000-as-trump-turbocharges-record-rally（2026-07-04T04:33:27+00:00）</a:t>
            </a:r>
          </a:p>
          <a:p>
            <a:pPr>
              <a:defRPr sz="1100"/>
            </a:pPr>
            <a:r>
              <a:t>ev-s-20260704-5294-79［search］https://news.qq.com/rain/a/20250825A08W9500（2026-07-04T04:33:55+00:00）</a:t>
            </a:r>
          </a:p>
          <a:p>
            <a:pPr>
              <a:defRPr sz="1100"/>
            </a:pPr>
            <a:r>
              <a:t>ev-s-20260704-5294-80［search］https://www.sec.gov/Archives/edgar/data/1980994/000143774923017574/bit20230608_s1.htm（2026-07-04T04:34:36+00:00）</a:t>
            </a:r>
          </a:p>
          <a:p>
            <a:pPr>
              <a:defRPr sz="1100"/>
            </a:pPr>
            <a:r>
              <a:t>ev-s-20260704-5294-81［search］https://www.cnbc.com/2022/05/13/cryptocurrency-luna-crashes-to-0-as-ust-falls-from-peg-bitcoin-rises.html（2026-07-04T04:34:48+00:00）</a:t>
            </a:r>
          </a:p>
          <a:p>
            <a:pPr>
              <a:defRPr sz="1100"/>
            </a:pPr>
            <a:r>
              <a:t>ev-s-20260704-5294-82［search］https://www.federalreserve.gov/newsevents/pressreleases/monetary20250129a.htm（2026-07-04T04:35:18+00:00）</a:t>
            </a:r>
          </a:p>
          <a:p>
            <a:pPr>
              <a:defRPr sz="1100"/>
            </a:pPr>
            <a:r>
              <a:t>ev-s-20260704-5294-83［search］https://www.ndrc.gov.cn/xxgk/zcfb/tz/202109/t20210924_1297474.html（2026-07-04T04:36:27+00:00）</a:t>
            </a:r>
          </a:p>
          <a:p>
            <a:pPr>
              <a:defRPr sz="1100"/>
            </a:pPr>
            <a:r>
              <a:t>ev-s-20260704-5294-84［search］https://www.reuters.com/legal/us-court-says-sec-wrong-deny-grayscales-spot-bitcoin-etf-proposal-2023-08-29/（2026-07-04T04:36:56+00:00）</a:t>
            </a:r>
          </a:p>
          <a:p>
            <a:pPr>
              <a:defRPr sz="1100"/>
            </a:pPr>
            <a:r>
              <a:t>ev-s-20260704-5294-85［search］https://www.supremecourt.gov/opinions/25pdf/24-1287_4gcj.pdf（2026-07-04T04:37:10+00:00）</a:t>
            </a:r>
          </a:p>
          <a:p>
            <a:pPr>
              <a:defRPr sz="1100"/>
            </a:pPr>
            <a:r>
              <a:t>ev-s-20260704-5294-86［search］https://www.bls.gov/opub/ted/2024/consumer-price-index-2023-in-review.htm（2026-07-04T04:37:19+00:00）</a:t>
            </a:r>
          </a:p>
          <a:p>
            <a:pPr>
              <a:defRPr sz="1100"/>
            </a:pPr>
            <a:r>
              <a:t>ev-s-20260704-5294-87［search］https://cryptoslate.com/blackrock-ceo-larry-fink-likens-crypto-to-digitizing-gold-praises-bitcoin-as-an-international-asset/（2026-07-04T04:37:20+00:00）</a:t>
            </a:r>
          </a:p>
          <a:p>
            <a:pPr>
              <a:defRPr sz="1100"/>
            </a:pPr>
            <a:r>
              <a:t>ev-s-20260704-5294-88［search］https://www.bls.gov/news.release/archives/cpi_12102021.htm（2026-07-04T04:38:11+00:00）</a:t>
            </a:r>
          </a:p>
          <a:p>
            <a:pPr>
              <a:defRPr sz="1100"/>
            </a:pPr>
            <a:r>
              <a:t>ev-s-20260704-5294-89［search］https://www.mining.com/web/to-be-or-not-to-be-how-the-evergrande-crisis-can-affect-gold/（2026-07-04T04:38:35+00:00）</a:t>
            </a:r>
          </a:p>
          <a:p>
            <a:pPr>
              <a:defRPr sz="1100"/>
            </a:pPr>
            <a:r>
              <a:t>ev-s-20260704-5294-90［news］https://hn.algolia.com/api/v1/search_by_date?query=BRICS&amp;tags=story&amp;hitsPerPage=20&amp;numericFilters=created_at_i%3E%3D1688169600%2Ccreated_at_i%3C%3D1694822399（2026-07-04T04:38:55+00:00）</a:t>
            </a:r>
          </a:p>
          <a:p>
            <a:pPr>
              <a:defRPr sz="1100"/>
            </a:pPr>
            <a:r>
              <a:t>ev-s-20260704-5294-91［news］https://hn.algolia.com/api/v1/search_by_date?query=tariff&amp;tags=story&amp;hitsPerPage=20&amp;numericFilters=created_at_i%3E%3D1742860800%2Ccreated_at_i%3C%3D1751327999（2026-07-04T04:38:55+00:00）</a:t>
            </a:r>
          </a:p>
          <a:p>
            <a:pPr>
              <a:defRPr sz="1100"/>
            </a:pPr>
            <a:r>
              <a:t>ev-s-20260704-5294-92［search］https://www.cnbc.com/2025/10/06/gold-sails-past-3900-per-ounce-for-first-time-on-safe-haven-bids.html（2026-07-04T04:39:36+00:00）</a:t>
            </a:r>
          </a:p>
          <a:p>
            <a:pPr>
              <a:defRPr sz="1100"/>
            </a:pPr>
            <a:r>
              <a:t>ev-s-20260704-5294-93［search］https://www.federalreserve.gov/newsevents/pressreleases/monetary20211103a.htm（2026-07-04T04:40:06+00:00）</a:t>
            </a:r>
          </a:p>
          <a:p>
            <a:pPr>
              <a:defRPr sz="1100"/>
            </a:pPr>
            <a:r>
              <a:t>ev-s-20260704-5294-94［search］https://www.worldatlarge.news/2023/08/24/brics-summit-2023-brics-gold-backed-currency-decision-delayed-6-new-members-invited-to-join/（2026-07-04T04:41:00+00:00）</a:t>
            </a:r>
          </a:p>
          <a:p>
            <a:pPr>
              <a:defRPr sz="1100"/>
            </a:pPr>
            <a:r>
              <a:t>ev-s-20260704-5294-95［search］https://www.federalreserve.gov/newsevents/pressreleases/monetary20241218a.htm（2026-07-04T04:42:02+00:00）</a:t>
            </a:r>
          </a:p>
          <a:p>
            <a:pPr>
              <a:defRPr sz="1100"/>
            </a:pPr>
            <a:r>
              <a:t>ev-s-20260704-5294-96［news］https://hn.algolia.com/api/v1/search_by_date?query=inflation&amp;tags=story&amp;hitsPerPage=30&amp;numericFilters=created_at_i%3E%3D1625097600%2Ccreated_at_i%3C%3D1640995199（2026-07-04T04:44:55+00:00）</a:t>
            </a:r>
          </a:p>
          <a:p>
            <a:pPr>
              <a:defRPr sz="1100"/>
            </a:pPr>
            <a:r>
              <a:t>ev-s-20260704-5294-97［news］https://hn.algolia.com/api/v1/search_by_date?query=bitcoin&amp;tags=story&amp;hitsPerPage=30&amp;numericFilters=created_at_i%3E%3D1625097600%2Ccreated_at_i%3C%3D1640995199（2026-07-04T04:44:55+00:00）</a:t>
            </a:r>
          </a:p>
          <a:p>
            <a:pPr>
              <a:defRPr sz="1100"/>
            </a:pPr>
            <a:r>
              <a:t>ev-s-20260704-5294-98［news］https://hn.algolia.com/api/v1/search_by_date?query=gold&amp;tags=story&amp;hitsPerPage=30&amp;numericFilters=created_at_i%3E%3D1625097600%2Ccreated_at_i%3C%3D1640995199（2026-07-04T04:44:55+00:00）</a:t>
            </a:r>
          </a:p>
          <a:p>
            <a:pPr>
              <a:defRPr sz="1100"/>
            </a:pPr>
            <a:r>
              <a:t>ev-s-20260704-5294-99［news］https://hn.algolia.com/api/v1/search_by_date?query=China+ban+bitcoin&amp;tags=story&amp;hitsPerPage=30&amp;numericFilters=created_at_i%3E%3D1625097600%2Ccreated_at_i%3C%3D1640995199（2026-07-04T04:45:02+00:00）</a:t>
            </a:r>
          </a:p>
          <a:p>
            <a:pPr>
              <a:defRPr sz="1100"/>
            </a:pPr>
            <a:r>
              <a:t>ev-s-20260704-5294-100［news］https://hn.algolia.com/api/v1/search_by_date?query=FTX&amp;tags=story&amp;hitsPerPage=30&amp;numericFilters=created_at_i%3E%3D1656633600%2Ccreated_at_i%3C%3D1672531199（2026-07-04T04:45:02+00:00）</a:t>
            </a:r>
          </a:p>
          <a:p>
            <a:pPr>
              <a:defRPr sz="1100"/>
            </a:pPr>
            <a:r>
              <a:t>ev-s-20260704-5294-101［news］https://hn.algolia.com/api/v1/search_by_date?query=Ukraine&amp;tags=story&amp;hitsPerPage=30&amp;numericFilters=created_at_i%3E%3D1640995200%2Ccreated_at_i%3C%3D1656633599（2026-07-04T04:45:02+00:00）</a:t>
            </a:r>
          </a:p>
          <a:p>
            <a:pPr>
              <a:defRPr sz="1100"/>
            </a:pPr>
            <a:r>
              <a:t>ev-s-20260704-5294-102［news］https://hn.algolia.com/api/v1/search_by_date?query=Evergrande&amp;tags=story&amp;hitsPerPage=30&amp;numericFilters=created_at_i%3E%3D1625097600%2Ccreated_at_i%3C%3D1640995199（2026-07-04T04:45:02+00:00）</a:t>
            </a:r>
          </a:p>
          <a:p>
            <a:pPr>
              <a:defRPr sz="1100"/>
            </a:pPr>
            <a:r>
              <a:t>ev-s-20260704-5294-103［news］https://hn.algolia.com/api/v1/search_by_date?query=BlackRock+bitcoin+ETF&amp;tags=story&amp;hitsPerPage=30&amp;numericFilters=created_at_i%3E%3D1685577600%2Ccreated_at_i%3C%3D1688169599（2026-07-04T04:45:09+00:00）</a:t>
            </a:r>
          </a:p>
          <a:p>
            <a:pPr>
              <a:defRPr sz="1100"/>
            </a:pPr>
            <a:r>
              <a:t>ev-s-20260704-5294-104［news］https://hn.algolia.com/api/v1/search_by_date?query=FTX+collapse&amp;tags=story&amp;hitsPerPage=30&amp;numericFilters=created_at_i%3E%3D1667260800%2Ccreated_at_i%3C%3D1669852799（2026-07-04T04:45:09+00:00）</a:t>
            </a:r>
          </a:p>
          <a:p>
            <a:pPr>
              <a:defRPr sz="1100"/>
            </a:pPr>
            <a:r>
              <a:t>ev-s-20260704-5294-105［news］https://hn.algolia.com/api/v1/search_by_date?query=SVB&amp;tags=story&amp;hitsPerPage=30&amp;numericFilters=created_at_i%3E%3D1677628800%2Ccreated_at_i%3C%3D1680307199（2026-07-04T04:45:09+00:00）</a:t>
            </a:r>
          </a:p>
          <a:p>
            <a:pPr>
              <a:defRPr sz="1100"/>
            </a:pPr>
            <a:r>
              <a:t>ev-s-20260704-5294-106［news］https://hn.algolia.com/api/v1/search_by_date?query=Russia+invades&amp;tags=story&amp;hitsPerPage=30&amp;numericFilters=created_at_i%3E%3D1644883200%2Ccreated_at_i%3C%3D1648771199（2026-07-04T04:45:09+00:00）</a:t>
            </a:r>
          </a:p>
          <a:p>
            <a:pPr>
              <a:defRPr sz="1100"/>
            </a:pPr>
            <a:r>
              <a:t>ev-s-20260704-5294-107［news］https://hn.algolia.com/api/v1/search_by_date?query=Bitcoin+halving&amp;tags=story&amp;hitsPerPage=30&amp;numericFilters=created_at_i%3E%3D1711929600%2Ccreated_at_i%3C%3D1714521599（2026-07-04T04:45:19+00:00）</a:t>
            </a:r>
          </a:p>
          <a:p>
            <a:pPr>
              <a:defRPr sz="1100"/>
            </a:pPr>
            <a:r>
              <a:t>ev-s-20260704-5294-108［news］https://hn.algolia.com/api/v1/search_by_date?query=Silicon+Valley+Bank&amp;tags=story&amp;hitsPerPage=30&amp;numericFilters=created_at_i%3E%3D1677974400%2Ccreated_at_i%3C%3D1679356799（2026-07-04T04:45:19+00:00）</a:t>
            </a:r>
          </a:p>
          <a:p>
            <a:pPr>
              <a:defRPr sz="1100"/>
            </a:pPr>
            <a:r>
              <a:t>ev-s-20260704-5294-109［news］https://hn.algolia.com/api/v1/search_by_date?query=Fed+rate+hike&amp;tags=story&amp;hitsPerPage=30&amp;numericFilters=created_at_i%3E%3D1640995200%2Ccreated_at_i%3C%3D1656633599（2026-07-04T04:45:20+00:00）</a:t>
            </a:r>
          </a:p>
          <a:p>
            <a:pPr>
              <a:defRPr sz="1100"/>
            </a:pPr>
            <a:r>
              <a:t>ev-s-20260704-5294-110［news］https://hn.algolia.com/api/v1/search_by_date?query=Bitcoin+ETF+approved&amp;tags=story&amp;hitsPerPage=30&amp;numericFilters=created_at_i%3E%3D1704067200%2Ccreated_at_i%3C%3D1706745599（2026-07-04T04:45:20+00:00）</a:t>
            </a:r>
          </a:p>
          <a:p>
            <a:pPr>
              <a:defRPr sz="1100"/>
            </a:pPr>
            <a:r>
              <a:t>ev-s-20260704-5294-111［news］https://hn.algolia.com/api/v1/search_by_date?query=Trump+tariff&amp;tags=story&amp;hitsPerPage=30&amp;numericFilters=created_at_i%3E%3D1735689600%2Ccreated_at_i%3C%3D1746057599（2026-07-04T04:45:30+00:00）</a:t>
            </a:r>
          </a:p>
          <a:p>
            <a:pPr>
              <a:defRPr sz="1100"/>
            </a:pPr>
            <a:r>
              <a:t>ev-s-20260704-5294-112［news］https://hn.algolia.com/api/v1/search_by_date?query=Trump+election&amp;tags=story&amp;hitsPerPage=30&amp;numericFilters=created_at_i%3E%3D1730419200%2Ccreated_at_i%3C%3D1733011199（2026-07-04T04:45:30+00:00）</a:t>
            </a:r>
          </a:p>
          <a:p>
            <a:pPr>
              <a:defRPr sz="1100"/>
            </a:pPr>
            <a:r>
              <a:t>ev-s-20260704-5294-113［news］https://hn.algolia.com/api/v1/search_by_date?query=inflation+CPI&amp;tags=story&amp;hitsPerPage=30&amp;numericFilters=created_at_i%3E%3D1656633600%2Ccreated_at_i%3C%3D1672531199（2026-07-04T04:45:30+00:00）</a:t>
            </a:r>
          </a:p>
          <a:p>
            <a:pPr>
              <a:defRPr sz="1100"/>
            </a:pPr>
            <a:r>
              <a:t>ev-s-20260704-5294-114［search］https://www.reuters.com/markets/commodities/gold-mounts-record-summit-eyes-3000-peak-2025-03-14/（2026-07-04T04:46:03+00:00）</a:t>
            </a:r>
          </a:p>
          <a:p>
            <a:pPr>
              <a:defRPr sz="1100"/>
            </a:pPr>
            <a:r>
              <a:t>ev-s-20260704-5294-115［news］https://hn.algolia.com/api/v1/search_by_date?query=DeepSeek&amp;tags=story&amp;hitsPerPage=20&amp;numericFilters=created_at_i%3E%3D1736899200%2Ccreated_at_i%3C%3D1739663999（2026-07-04T04:46:10+00:00）</a:t>
            </a:r>
          </a:p>
          <a:p>
            <a:pPr>
              <a:defRPr sz="1100"/>
            </a:pPr>
            <a:r>
              <a:t>ev-s-20260704-5294-116［search］https://www.cbsnews.com/news/trump-liberation-day-new-tariffs-us/（2026-07-04T04:46:31+00:00）</a:t>
            </a:r>
          </a:p>
          <a:p>
            <a:pPr>
              <a:defRPr sz="1100"/>
            </a:pPr>
            <a:r>
              <a:t>ev-s-20260704-5294-117［search］https://www.reuters.com/technology/artificial-intelligence/what-is-deepseek-why-is-it-disrupting-ai-sector-2025-01-27/（2026-07-04T04:46:37+00:00）</a:t>
            </a:r>
          </a:p>
          <a:p>
            <a:pPr>
              <a:defRPr sz="1100"/>
            </a:pPr>
            <a:r>
              <a:t>ev-s-20260704-5294-118［news］https://hn.algolia.com/api/v1/search_by_date?query=Fed+cut&amp;tags=story&amp;hitsPerPage=20&amp;numericFilters=created_at_i%3E%3D1751328000%2Ccreated_at_i%3C%3D1767225599（2026-07-04T04:46:44+00:00）</a:t>
            </a:r>
          </a:p>
          <a:p>
            <a:pPr>
              <a:defRPr sz="1100"/>
            </a:pPr>
            <a:r>
              <a:t>ev-s-20260704-5294-119［news］https://hn.algolia.com/api/v1/search_by_date?query=gold+record&amp;tags=story&amp;hitsPerPage=20&amp;numericFilters=created_at_i%3E%3D1748736000%2Ccreated_at_i%3C%3D1751673599（2026-07-04T04:46:44+00:00）</a:t>
            </a:r>
          </a:p>
          <a:p>
            <a:pPr>
              <a:defRPr sz="1100"/>
            </a:pPr>
            <a:r>
              <a:t>ev-s-20260704-5294-120［search］https://www.reuters.com/technology/bitcoin-slumps-lowest-month-after-russia-invades-ukraine-2022-02-24/（2026-07-04T04:47:16+00:00）</a:t>
            </a:r>
          </a:p>
          <a:p>
            <a:pPr>
              <a:defRPr sz="1100"/>
            </a:pPr>
            <a:r>
              <a:t>ev-s-20260704-5294-121［news］https://hn.algolia.com/api/v1/search_by_date?query=bitcoin&amp;tags=story&amp;hitsPerPage=20&amp;numericFilters=created_at_i%3E%3D1767225600%2Ccreated_at_i%3C%3D1783209599（2026-07-04T04:47:23+00:00）</a:t>
            </a:r>
          </a:p>
          <a:p>
            <a:pPr>
              <a:defRPr sz="1100"/>
            </a:pPr>
            <a:r>
              <a:t>ev-s-20260704-5294-122［news］https://hn.algolia.com/api/v1/search_by_date?query=gold&amp;tags=story&amp;hitsPerPage=20&amp;numericFilters=created_at_i%3E%3D1767225600%2Ccreated_at_i%3C%3D1783209599（2026-07-04T04:47:23+00:00）</a:t>
            </a:r>
          </a:p>
          <a:p>
            <a:pPr>
              <a:defRPr sz="1100"/>
            </a:pPr>
            <a:r>
              <a:t>ev-s-20260704-5294-123［search］https://www.coindesk.com/markets/2024/08/05/bitcoin-drops-15-against-japanese-yen-outpacing-declines-versus-usd-as-yen-carry-trades-unwind（2026-07-04T04:47:50+00:00）</a:t>
            </a:r>
          </a:p>
          <a:p>
            <a:pPr>
              <a:defRPr sz="1100"/>
            </a:pPr>
            <a:r>
              <a:t>ev-s-20260704-5294-124［search］https://news.qq.com/rain/a/20260130A0781Y00（2026-07-04T04:48:17+00:00）</a:t>
            </a:r>
          </a:p>
          <a:p>
            <a:pPr>
              <a:defRPr sz="1100"/>
            </a:pPr>
            <a:r>
              <a:t>ev-s-20260704-5294-125［search］https://www.reuters.com/technology/bitcoin-surges-record-high-trump-bets-2024-11-11/（2026-07-04T04:48:41+00:00）</a:t>
            </a:r>
          </a:p>
          <a:p>
            <a:pPr>
              <a:defRPr sz="1100"/>
            </a:pPr>
            <a:r>
              <a:t>ev-s-20260704-5294-126［search］http://dianzibao.cb.com.cn/html/2024-06/24/content_331649.htm?div=-1（2026-07-04T04:48:46+00:00）</a:t>
            </a:r>
          </a:p>
          <a:p>
            <a:pPr>
              <a:defRPr sz="1100"/>
            </a:pPr>
            <a:r>
              <a:t>ev-s-20260704-5294-127［search］https://www.supremecourt.gov/opinions/25pdf/24-1287_4gcj.pdf（2026-07-04T04:49:05+00:00）</a:t>
            </a:r>
          </a:p>
          <a:p>
            <a:pPr>
              <a:defRPr sz="1100"/>
            </a:pPr>
            <a:r>
              <a:t>ev-s-20260704-5294-128［news］https://hn.algolia.com/api/v1/search_by_date?query=Hamas&amp;tags=story&amp;hitsPerPage=20&amp;numericFilters=created_at_i%3E%3D1696118400%2Ccreated_at_i%3C%3D1704067199（2026-07-04T04:49:24+00:00）</a:t>
            </a:r>
          </a:p>
          <a:p>
            <a:pPr>
              <a:defRPr sz="1100"/>
            </a:pPr>
            <a:r>
              <a:t>ev-s-20260704-5294-129［search］https://k.sina.cn/article_7879922977_1d5ae152106801dduo.html?from=finance（2026-07-04T04:49:53+00:00）</a:t>
            </a:r>
          </a:p>
          <a:p>
            <a:pPr>
              <a:defRPr sz="1100"/>
            </a:pPr>
            <a:r>
              <a:t>ev-s-20260704-5294-130［search］https://www.reuters.com/markets/commodities/safe-haven-gold-hits-record-peak-trump-announces-sweeping-tariffs-2025-04-03/（2026-07-04T04:50:15+00:00）</a:t>
            </a:r>
          </a:p>
          <a:p>
            <a:pPr>
              <a:defRPr sz="1100"/>
            </a:pPr>
            <a:r>
              <a:t>ev-s-20260704-5294-131［news］https://hn.algolia.com/api/v1/search_by_date?query=carry+trade&amp;tags=story&amp;hitsPerPage=20&amp;numericFilters=created_at_i%3E%3D1722470400%2Ccreated_at_i%3C%3D1723334399（2026-07-04T04:50:26+00:00）</a:t>
            </a:r>
          </a:p>
          <a:p>
            <a:pPr>
              <a:defRPr sz="1100"/>
            </a:pPr>
            <a:r>
              <a:t>ev-s-20260704-5294-132［news］https://hn.algolia.com/api/v1/search_by_date?query=debt+ceiling&amp;tags=story&amp;hitsPerPage=20&amp;numericFilters=created_at_i%3E%3D1682899200%2Ccreated_at_i%3C%3D1688169599（2026-07-04T04:50:27+00:00）</a:t>
            </a:r>
          </a:p>
          <a:p>
            <a:pPr>
              <a:defRPr sz="1100"/>
            </a:pPr>
            <a:r>
              <a:t>ev-s-20260704-5294-133［search］https://www.reuters.com/world/china/china-central-bank-vows-crackdown-cryptocurrency-trading-2021-09-24/（2026-07-04T04:51:03+00:00）</a:t>
            </a:r>
          </a:p>
          <a:p>
            <a:pPr>
              <a:defRPr sz="1100"/>
            </a:pPr>
            <a:r>
              <a:t>ev-s-20260704-5294-134［news］https://hn.algolia.com/api/v1/search_by_date?query=FTX+bankruptcy&amp;tags=story&amp;hitsPerPage=20&amp;numericFilters=created_at_i%3E%3D1667779200%2Ccreated_at_i%3C%3D1668556799（2026-07-04T04:51:21+00:00）</a:t>
            </a:r>
          </a:p>
          <a:p>
            <a:pPr>
              <a:defRPr sz="1100"/>
            </a:pPr>
            <a:r>
              <a:t>ev-s-20260704-5294-135［search］https://www.reuters.com/markets/commodities/gold-gains-softer-us-dollar-geopolitical-concerns-set-weekly-fall-2024-11-29/（2026-07-04T04:51:44+00:00）</a:t>
            </a:r>
          </a:p>
          <a:p>
            <a:pPr>
              <a:defRPr sz="1100"/>
            </a:pPr>
            <a:r>
              <a:t>ev-s-20260704-5294-136［search］https://www.reuters.com/technology/view-bitcoin-surges-above-100000-2024-12-05/（2026-07-04T04:52:12+00:00）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黄金 vs 比特币：谁更配「避险与抗通胀」标签？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