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uery1.finance.yahoo.com/v8/finance/chart/NVDA?period1=1625443200&amp;period2=1783296000&amp;interval=1d&amp;events=history" TargetMode="External"/><Relationship Id="rId3" Type="http://schemas.openxmlformats.org/officeDocument/2006/relationships/hyperlink" Target="https://www.history.com/this-day-in-history/november-30/chatgpt-released-openai" TargetMode="External"/><Relationship Id="rId4" Type="http://schemas.openxmlformats.org/officeDocument/2006/relationships/hyperlink" Target="https://www.linkedin.com/posts/bella-l-552773243_due-to-the-surge-in-demand-in-the-ai-market-activity-7119992013516673024-aQlf" TargetMode="External"/><Relationship Id="rId5" Type="http://schemas.openxmlformats.org/officeDocument/2006/relationships/hyperlink" Target="https://www.cnbc.com/2025/01/27/nvidia-falls-10percent-in-premarket-trading-as-chinas-deepseek-triggers-global-tech-sell-off.html" TargetMode="External"/><Relationship Id="rId6" Type="http://schemas.openxmlformats.org/officeDocument/2006/relationships/hyperlink" Target="https://hn.algolia.com/api/v1/search_by_date?query=nvidia&amp;tags=story&amp;hitsPerPage=30&amp;numericFilters=created_at_i%3E%3D1628726400%2Ccreated_at_i%3C%3D1640044799" TargetMode="External"/><Relationship Id="rId7" Type="http://schemas.openxmlformats.org/officeDocument/2006/relationships/hyperlink" Target="https://www.searchenginejournal.com/gpt-4-is-multimodal/481993" TargetMode="External"/><Relationship Id="rId8" Type="http://schemas.openxmlformats.org/officeDocument/2006/relationships/hyperlink" Target="https://hn.algolia.com/api/v1/search_by_date?query=nvidia&amp;tags=story&amp;hitsPerPage=30&amp;numericFilters=created_at_i%3E%3D1640995200%2Ccreated_at_i%3C%3D1656633599" TargetMode="External"/><Relationship Id="rId9" Type="http://schemas.openxmlformats.org/officeDocument/2006/relationships/hyperlink" Target="https://hn.algolia.com/api/v1/search_by_date?query=GPU&amp;tags=story&amp;hitsPerPage=30&amp;numericFilters=created_at_i%3E%3D1628726400%2Ccreated_at_i%3C%3D1640044799" TargetMode="External"/><Relationship Id="rId10" Type="http://schemas.openxmlformats.org/officeDocument/2006/relationships/hyperlink" Target="https://hn.algolia.com/api/v1/search_by_date?query=nvidia&amp;tags=story&amp;hitsPerPage=30&amp;numericFilters=created_at_i%3E%3D1656633600%2Ccreated_at_i%3C%3D1672531199" TargetMode="External"/><Relationship Id="rId11" Type="http://schemas.openxmlformats.org/officeDocument/2006/relationships/hyperlink" Target="https://hn.algolia.com/api/v1/search_by_date?query=H100&amp;tags=story&amp;hitsPerPage=20&amp;numericFilters=created_at_i%3E%3D1646092800%2Ccreated_at_i%3C%3D1651363199" TargetMode="External"/><Relationship Id="rId12" Type="http://schemas.openxmlformats.org/officeDocument/2006/relationships/hyperlink" Target="https://hn.algolia.com/api/v1/search_by_date?query=export+control&amp;tags=story&amp;hitsPerPage=20&amp;numericFilters=created_at_i%3E%3D1661990400%2Ccreated_at_i%3C%3D1668556799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n.algolia.com/api/v1/search_by_date?query=nvidia+GTC&amp;tags=story&amp;hitsPerPage=20&amp;numericFilters=created_at_i%3E%3D1647302400%2Ccreated_at_i%3C%3D1650067199" TargetMode="External"/><Relationship Id="rId3" Type="http://schemas.openxmlformats.org/officeDocument/2006/relationships/hyperlink" Target="https://hn.algolia.com/api/v1/search_by_date?query=chatgpt&amp;tags=story&amp;hitsPerPage=20&amp;numericFilters=created_at_i%3E%3D1668902400%2Ccreated_at_i%3C%3D1671148799" TargetMode="External"/><Relationship Id="rId4" Type="http://schemas.openxmlformats.org/officeDocument/2006/relationships/hyperlink" Target="https://hn.algolia.com/api/v1/search_by_date?query=nvidia&amp;tags=story&amp;hitsPerPage=30&amp;numericFilters=created_at_i%3E%3D1672531200%2Ccreated_at_i%3C%3D1688169599" TargetMode="External"/><Relationship Id="rId5" Type="http://schemas.openxmlformats.org/officeDocument/2006/relationships/hyperlink" Target="https://hn.algolia.com/api/v1/search_by_date?query=nvidia+trillion&amp;tags=story&amp;hitsPerPage=20&amp;numericFilters=created_at_i%3E%3D1682899200%2Ccreated_at_i%3C%3D1690847999" TargetMode="External"/><Relationship Id="rId6" Type="http://schemas.openxmlformats.org/officeDocument/2006/relationships/hyperlink" Target="https://hn.algolia.com/api/v1/search_by_date?query=nvidia&amp;tags=story&amp;hitsPerPage=30&amp;numericFilters=created_at_i%3E%3D1672531200%2Ccreated_at_i%3C%3D1682899199" TargetMode="External"/><Relationship Id="rId7" Type="http://schemas.openxmlformats.org/officeDocument/2006/relationships/hyperlink" Target="https://hn.algolia.com/api/v1/search_by_date?query=nvidia&amp;tags=story&amp;hitsPerPage=20&amp;numericFilters=created_at_i%3E%3D1693526400%2Ccreated_at_i%3C%3D1704067199" TargetMode="External"/><Relationship Id="rId8" Type="http://schemas.openxmlformats.org/officeDocument/2006/relationships/hyperlink" Target="https://www.cnbc.com/2023/05/24/nvidia-nvda-earnings-report-q1-2024.html" TargetMode="External"/><Relationship Id="rId9" Type="http://schemas.openxmlformats.org/officeDocument/2006/relationships/hyperlink" Target="https://hn.algolia.com/api/v1/search_by_date?query=blackwell&amp;tags=story&amp;hitsPerPage=30&amp;numericFilters=created_at_i%3E%3D1709251200%2Ccreated_at_i%3C%3D1719791999" TargetMode="External"/><Relationship Id="rId10" Type="http://schemas.openxmlformats.org/officeDocument/2006/relationships/hyperlink" Target="https://hn.algolia.com/api/v1/search_by_date?query=nvidia&amp;tags=story&amp;hitsPerPage=20&amp;numericFilters=created_at_i%3E%3D1715731200%2Ccreated_at_i%3C%3D1722470399" TargetMode="External"/><Relationship Id="rId11" Type="http://schemas.openxmlformats.org/officeDocument/2006/relationships/hyperlink" Target="https://cash.app/help/01122213-nvidia-nvda-10for1-stock-split" TargetMode="External"/><Relationship Id="rId12" Type="http://schemas.openxmlformats.org/officeDocument/2006/relationships/hyperlink" Target="https://hn.algolia.com/api/v1/search_by_date?query=nvidia&amp;tags=story&amp;hitsPerPage=20&amp;numericFilters=created_at_i%3E%3D1736899200%2Ccreated_at_i%3C%3D1746057599" TargetMode="External"/><Relationship Id="rId13" Type="http://schemas.openxmlformats.org/officeDocument/2006/relationships/hyperlink" Target="https://hn.algolia.com/api/v1/search_by_date?query=deepseek&amp;tags=story&amp;hitsPerPage=30&amp;numericFilters=created_at_i%3E%3D1736899200%2Ccreated_at_i%3C%3D1742083199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n.algolia.com/api/v1/search_by_date?query=deepseek&amp;tags=story&amp;hitsPerPage=20&amp;numericFilters=created_at_i%3E%3D1737331200%2Ccreated_at_i%3C%3D1739231999" TargetMode="External"/><Relationship Id="rId3" Type="http://schemas.openxmlformats.org/officeDocument/2006/relationships/hyperlink" Target="https://fortune.com/2025/01/27/nvidia-deepseek-rout-tech-stocks" TargetMode="External"/><Relationship Id="rId4" Type="http://schemas.openxmlformats.org/officeDocument/2006/relationships/hyperlink" Target="https://hn.algolia.com/api/v1/search_by_date?query=nvidia&amp;tags=story&amp;hitsPerPage=20&amp;numericFilters=created_at_i%3E%3D1761350400%2Ccreated_at_i%3C%3D1767657599" TargetMode="External"/><Relationship Id="rId5" Type="http://schemas.openxmlformats.org/officeDocument/2006/relationships/hyperlink" Target="https://hn.algolia.com/api/v1/search_by_date?query=nvidia&amp;tags=story&amp;hitsPerPage=20&amp;numericFilters=created_at_i%3E%3D1771718400%2Ccreated_at_i%3C%3D1783295999" TargetMode="External"/><Relationship Id="rId6" Type="http://schemas.openxmlformats.org/officeDocument/2006/relationships/hyperlink" Target="https://www.youtube.com/watch?v=_waPvOwL9Z8" TargetMode="External"/><Relationship Id="rId7" Type="http://schemas.openxmlformats.org/officeDocument/2006/relationships/hyperlink" Target="https://techcrunch.com/2025/04/15/nvidia-h20-chip-exports-hit-with-license-requirement-by-us-governmen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2121408"/>
            <a:ext cx="960120" cy="54864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395728"/>
            <a:ext cx="10984687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2733"/>
                </a:solidFill>
                <a:latin typeface="Helvetica Neue"/>
                <a:ea typeface="PingFang SC"/>
              </a:rPr>
              <a:t>NVDA五年事件驱动复盘：关键发现与决策框架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4160520"/>
            <a:ext cx="1098468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B81"/>
                </a:solidFill>
                <a:latin typeface="Helvetica Neue"/>
                <a:ea typeface="PingFang SC"/>
              </a:rPr>
              <a:t>2021.07 - 2026.07 | 40个变化点 × 14条AI事件对齐研究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126480"/>
            <a:ext cx="1098468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81"/>
                </a:solidFill>
                <a:latin typeface="Helvetica Neue"/>
                <a:ea typeface="PingFang SC"/>
              </a:rPr>
              <a:t>finance-agent 研究产物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2697480"/>
            <a:ext cx="822960" cy="50292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71800"/>
            <a:ext cx="109846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733"/>
                </a:solidFill>
                <a:latin typeface="Helvetica Neue"/>
                <a:ea typeface="PingFang SC"/>
              </a:rPr>
              <a:t>一、研究框架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4023360"/>
            <a:ext cx="1098468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81"/>
                </a:solidFill>
                <a:latin typeface="Helvetica Neue"/>
                <a:ea typeface="PingFang SC"/>
              </a:rPr>
              <a:t>数据、方法与对齐逻辑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溯源：ev-s-20260705-05ef-1、ev-s-20260705-05ef-2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研究设定：数据与方法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标的：NVDA，1,254个交易日（2021-07-06至2026-07-02）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变化点：算法检测150个→min_severity=2过滤→40个（accel/rally/drawdown五类）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事件素材：14条AI行业重大事件（产品发布/监管/财报/竞争冲击等六类）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对齐逻辑：时间窗口重叠 + 方向一致性 → match / partial / none 三档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溯源：ev-s-20260705-05ef-1、ev-s-20260705-05ef-2  ｜  数据源：Yahoo Finance；变化点检测确定性算法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核心发现：事件-行情对齐率仅7.5%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40个变化点中仅3个严格匹配（match=7.5%），29个无事件对应（none=72.5%）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向下冲击事件对齐率（83%）远高于向上催化（50%）——非对称性显著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"买预期、卖事实"是NVDA事件交易的常态：Blackwell发布、财报后均现回撤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事件覆盖存在五大缺口：2021H2、2022Q2-Q3、2023Q3、2024Q3、2025-2026全空白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溯源：ev-s-20260705-05ef-2、ev-s-20260705-05ef-26、ev-s-20260705-05ef-5、ev-s-20260705-05ef-20、ev-s-20260705-05ef-23  ｜  DeepSeek R1是五年间唯一的极端统计偏离（-5.9σ）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对齐统计：按档位分布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" y="1371600"/>
          <a:ext cx="10984685" cy="1609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0951"/>
                <a:gridCol w="2554578"/>
                <a:gridCol w="2554578"/>
                <a:gridCol w="255457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对齐档位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变化点数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占比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代表事件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match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3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7.5%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DeepSeek R1（×2）、FTC起诉ARM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partial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8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20.0%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ChatGPT→rally、出口管制→反弹、Blackwell/财报→回撤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none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29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72.5%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2021H2空白期（8个）、2025-2026空白期（7个）、其他散点（14个）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溯源：ev-s-20260705-05ef-2  ｜  partial包括方向相悖的"利空出尽"与"买预期卖事实"模式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DeepSeek R1：五年最大冲击的解剖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触发两个match变化点：accel_down（-5.9σ极端偏离）+ drawdown（-20.8%）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次日+8.93% accel_up（partial）：恐慌急速修正，反映市场对竞争叙事的过度反应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后续Q4 FY2025财报（$393亿，+78% YoY）迅速修复信心——算力需求未被证伪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启示：NVDA高估值对"低成本替代"叙事的极端敏感性是核心尾部风险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溯源：ev-s-20260705-05ef-26、ev-s-20260705-05ef-5、ev-s-20260705-05ef-23、ev-s-20260705-05ef-2  ｜  DeepSeek声称训练成本$560万，远低于美国同行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局限性：72.5%的变化点为何无事件对应？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事件列表偏向"硬催化剂"（产品/监管/财报），缺宏观流动性、市场情绪、技术面因子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2021H2芯片短缺、2022年美联储加息周期、2024H2 Blackwell交付均未纳入事件列表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2025年3月至2026年7月事件完全空白——最后7个变化点无事件可对齐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建议补充：美联储会议节点、Blackwell/Rubin交付里程碑、竞争格局变化事件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溯源：ev-s-20260705-05ef-1、ev-s-20260705-05ef-2  ｜  变化点检测min_severity=2可能漏检低波动趋势转折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结论与观察清单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向下冲击对齐率 &gt;&gt; 向上催化：估值溢价放大负面事件冲击，正向催化被趋势吸收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"买预期、卖事实"规律：事件日本身不是最佳入场时点，事件前布局+事件后获利了结更常见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监控信号：Rubin平台发布、中美芯片管制升级、AMD/自研芯片竞争、推理成本→训练需求反身性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DeepSeek式尾部风险：低成本替代的极端统计偏离（-5.9σ）远超正态假设，需纳入风控框架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溯源：ev-s-20260705-05ef-1、ev-s-20260705-05ef-2、ev-s-20260705-05ef-26、ev-s-20260705-05ef-5、ev-s-20260705-05ef-20  ｜  不构成投资建议。数据截至2026-07-02，来源Yahoo Finance与公开新闻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ev-s-20260705-05ef-1［market_data］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2"/>
                <a:ea typeface="PingFang SC"/>
              </a:rPr>
              <a:t>https://query1.finance.yahoo.com/v8/finance/chart/NVDA?period1=1625443200&amp;period2=1783296000&amp;interval=1d&amp;events=history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（2026-07-05T12:34:53+00:00）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ev-s-20260705-05ef-2［computation］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evidence:ev-s-20260705-05ef-1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（2026-07-05T12:34:57+00:00）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ev-s-20260705-05ef-3［search］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3"/>
                <a:ea typeface="PingFang SC"/>
              </a:rPr>
              <a:t>https://www.history.com/this-day-in-history/november-30/chatgpt-released-openai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（2026-07-05T12:36:07+00:00）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ev-s-20260705-05ef-4［search］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4"/>
                <a:ea typeface="PingFang SC"/>
              </a:rPr>
              <a:t>https://www.linkedin.com/posts/bella-l-552773243_due-to-the-surge-in-demand-in-the-ai-market-activity-7119992013516673024-aQlf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（2026-07-05T12:36:07+00:00）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ev-s-20260705-05ef-5［search］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5"/>
                <a:ea typeface="PingFang SC"/>
              </a:rPr>
              <a:t>https://www.cnbc.com/2025/01/27/nvidia-falls-10percent-in-premarket-trading-as-chinas-deepseek-triggers-global-tech-sell-off.html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（2026-07-05T12:36:07+00:00）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ev-s-20260705-05ef-6［news］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6"/>
                <a:ea typeface="PingFang SC"/>
              </a:rPr>
              <a:t>https://hn.algolia.com/api/v1/search_by_date?query=nvidia&amp;tags=story&amp;hitsPerPage=30&amp;numericFilters=created_at_i%3E%3D1628726400%2Ccreated_at_i%3C%3D1640044799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（2026-07-05T12:36:13+00:00）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ev-s-20260705-05ef-7［search］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7"/>
                <a:ea typeface="PingFang SC"/>
              </a:rPr>
              <a:t>https://www.searchenginejournal.com/gpt-4-is-multimodal/481993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（2026-07-05T12:36:13+00:00）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ev-s-20260705-05ef-8［news］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8"/>
                <a:ea typeface="PingFang SC"/>
              </a:rPr>
              <a:t>https://hn.algolia.com/api/v1/search_by_date?query=nvidia&amp;tags=story&amp;hitsPerPage=30&amp;numericFilters=created_at_i%3E%3D1640995200%2Ccreated_at_i%3C%3D1656633599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（2026-07-05T12:36:23+00:00）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ev-s-20260705-05ef-9［news］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9"/>
                <a:ea typeface="PingFang SC"/>
              </a:rPr>
              <a:t>https://hn.algolia.com/api/v1/search_by_date?query=GPU&amp;tags=story&amp;hitsPerPage=30&amp;numericFilters=created_at_i%3E%3D1628726400%2Ccreated_at_i%3C%3D1640044799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（2026-07-05T12:36:23+00:00）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ev-s-20260705-05ef-10［news］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0"/>
                <a:ea typeface="PingFang SC"/>
              </a:rPr>
              <a:t>https://hn.algolia.com/api/v1/search_by_date?query=nvidia&amp;tags=story&amp;hitsPerPage=30&amp;numericFilters=created_at_i%3E%3D1656633600%2Ccreated_at_i%3C%3D1672531199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（2026-07-05T12:36:35+00:00）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ev-s-20260705-05ef-11［news］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1"/>
                <a:ea typeface="PingFang SC"/>
              </a:rPr>
              <a:t>https://hn.algolia.com/api/v1/search_by_date?query=H100&amp;tags=story&amp;hitsPerPage=20&amp;numericFilters=created_at_i%3E%3D1646092800%2Ccreated_at_i%3C%3D1651363199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（2026-07-05T12:36:35+00:00）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ev-s-20260705-05ef-12［news］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2"/>
                <a:ea typeface="PingFang SC"/>
              </a:rPr>
              <a:t>https://hn.algolia.com/api/v1/search_by_date?query=export+control&amp;tags=story&amp;hitsPerPage=20&amp;numericFilters=created_at_i%3E%3D1661990400%2Ccreated_at_i%3C%3D1668556799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（2026-07-05T12:36:35+00:00）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ev-s-20260705-05ef-13［news］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2"/>
                <a:ea typeface="PingFang SC"/>
              </a:rPr>
              <a:t>https://hn.algolia.com/api/v1/search_by_date?query=nvidia+GTC&amp;tags=story&amp;hitsPerPage=20&amp;numericFilters=created_at_i%3E%3D1647302400%2Ccreated_at_i%3C%3D1650067199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（2026-07-05T12:36:45+00:00）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ev-s-20260705-05ef-14［news］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3"/>
                <a:ea typeface="PingFang SC"/>
              </a:rPr>
              <a:t>https://hn.algolia.com/api/v1/search_by_date?query=chatgpt&amp;tags=story&amp;hitsPerPage=20&amp;numericFilters=created_at_i%3E%3D1668902400%2Ccreated_at_i%3C%3D1671148799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（2026-07-05T12:36:45+00:00）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ev-s-20260705-05ef-15［news］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4"/>
                <a:ea typeface="PingFang SC"/>
              </a:rPr>
              <a:t>https://hn.algolia.com/api/v1/search_by_date?query=nvidia&amp;tags=story&amp;hitsPerPage=30&amp;numericFilters=created_at_i%3E%3D1672531200%2Ccreated_at_i%3C%3D1688169599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（2026-07-05T12:37:23+00:00）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ev-s-20260705-05ef-16［news］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5"/>
                <a:ea typeface="PingFang SC"/>
              </a:rPr>
              <a:t>https://hn.algolia.com/api/v1/search_by_date?query=nvidia+trillion&amp;tags=story&amp;hitsPerPage=20&amp;numericFilters=created_at_i%3E%3D1682899200%2Ccreated_at_i%3C%3D1690847999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（2026-07-05T12:37:29+00:00）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ev-s-20260705-05ef-17［news］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6"/>
                <a:ea typeface="PingFang SC"/>
              </a:rPr>
              <a:t>https://hn.algolia.com/api/v1/search_by_date?query=nvidia&amp;tags=story&amp;hitsPerPage=30&amp;numericFilters=created_at_i%3E%3D1672531200%2Ccreated_at_i%3C%3D1682899199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（2026-07-05T12:37:29+00:00）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ev-s-20260705-05ef-18［news］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7"/>
                <a:ea typeface="PingFang SC"/>
              </a:rPr>
              <a:t>https://hn.algolia.com/api/v1/search_by_date?query=nvidia&amp;tags=story&amp;hitsPerPage=20&amp;numericFilters=created_at_i%3E%3D1693526400%2Ccreated_at_i%3C%3D1704067199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（2026-07-05T12:37:36+00:00）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ev-s-20260705-05ef-19［search］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8"/>
                <a:ea typeface="PingFang SC"/>
              </a:rPr>
              <a:t>https://www.cnbc.com/2023/05/24/nvidia-nvda-earnings-report-q1-2024.html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（2026-07-05T12:37:38+00:00）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ev-s-20260705-05ef-20［news］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9"/>
                <a:ea typeface="PingFang SC"/>
              </a:rPr>
              <a:t>https://hn.algolia.com/api/v1/search_by_date?query=blackwell&amp;tags=story&amp;hitsPerPage=30&amp;numericFilters=created_at_i%3E%3D1709251200%2Ccreated_at_i%3C%3D1719791999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（2026-07-05T12:38:21+00:00）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ev-s-20260705-05ef-21［news］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0"/>
                <a:ea typeface="PingFang SC"/>
              </a:rPr>
              <a:t>https://hn.algolia.com/api/v1/search_by_date?query=nvidia&amp;tags=story&amp;hitsPerPage=20&amp;numericFilters=created_at_i%3E%3D1715731200%2Ccreated_at_i%3C%3D1722470399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（2026-07-05T12:38:26+00:00）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ev-s-20260705-05ef-22［search］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1"/>
                <a:ea typeface="PingFang SC"/>
              </a:rPr>
              <a:t>https://cash.app/help/01122213-nvidia-nvda-10for1-stock-split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（2026-07-05T12:38:28+00:00）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ev-s-20260705-05ef-23［news］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2"/>
                <a:ea typeface="PingFang SC"/>
              </a:rPr>
              <a:t>https://hn.algolia.com/api/v1/search_by_date?query=nvidia&amp;tags=story&amp;hitsPerPage=20&amp;numericFilters=created_at_i%3E%3D1736899200%2Ccreated_at_i%3C%3D1746057599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（2026-07-05T12:38:46+00:00）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ev-s-20260705-05ef-24［news］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3"/>
                <a:ea typeface="PingFang SC"/>
              </a:rPr>
              <a:t>https://hn.algolia.com/api/v1/search_by_date?query=deepseek&amp;tags=story&amp;hitsPerPage=30&amp;numericFilters=created_at_i%3E%3D1736899200%2Ccreated_at_i%3C%3D1742083199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（2026-07-05T12:38:46+00:00）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ev-s-20260705-05ef-25［news］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2"/>
                <a:ea typeface="PingFang SC"/>
              </a:rPr>
              <a:t>https://hn.algolia.com/api/v1/search_by_date?query=deepseek&amp;tags=story&amp;hitsPerPage=20&amp;numericFilters=created_at_i%3E%3D1737331200%2Ccreated_at_i%3C%3D1739231999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（2026-07-05T12:38:55+00:00）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ev-s-20260705-05ef-26［search］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3"/>
                <a:ea typeface="PingFang SC"/>
              </a:rPr>
              <a:t>https://fortune.com/2025/01/27/nvidia-deepseek-rout-tech-stocks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（2026-07-05T12:38:57+00:00）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ev-s-20260705-05ef-27［news］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4"/>
                <a:ea typeface="PingFang SC"/>
              </a:rPr>
              <a:t>https://hn.algolia.com/api/v1/search_by_date?query=nvidia&amp;tags=story&amp;hitsPerPage=20&amp;numericFilters=created_at_i%3E%3D1761350400%2Ccreated_at_i%3C%3D1767657599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（2026-07-05T12:39:16+00:00）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ev-s-20260705-05ef-28［news］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5"/>
                <a:ea typeface="PingFang SC"/>
              </a:rPr>
              <a:t>https://hn.algolia.com/api/v1/search_by_date?query=nvidia&amp;tags=story&amp;hitsPerPage=20&amp;numericFilters=created_at_i%3E%3D1771718400%2Ccreated_at_i%3C%3D1783295999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（2026-07-05T12:39:16+00:00）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ev-s-20260705-05ef-29［search］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6"/>
                <a:ea typeface="PingFang SC"/>
              </a:rPr>
              <a:t>https://www.youtube.com/watch?v=_waPvOwL9Z8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（2026-07-05T12:39:29+00:00）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ev-s-20260705-05ef-30［search］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7"/>
                <a:ea typeface="PingFang SC"/>
              </a:rPr>
              <a:t>https://techcrunch.com/2025/04/15/nvidia-h20-chip-exports-hit-with-license-requirement-by-us-government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（2026-07-05T12:39:29+00:00）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NVDA五年事件驱动复盘：关键发现与决策框架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