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uery1.finance.yahoo.com/v8/finance/chart/GC=F?period1=1625443200&amp;period2=1783296000&amp;interval=1d&amp;events=history" TargetMode="External"/><Relationship Id="rId3" Type="http://schemas.openxmlformats.org/officeDocument/2006/relationships/hyperlink" Target="https://query1.finance.yahoo.com/v8/finance/chart/BTC-USD?period1=1625443200&amp;period2=1783296000&amp;interval=1d&amp;events=history" TargetMode="External"/><Relationship Id="rId4" Type="http://schemas.openxmlformats.org/officeDocument/2006/relationships/hyperlink" Target="https://www.lseg.com/en/ftse-russell/research/bitcoin-halving" TargetMode="External"/><Relationship Id="rId5" Type="http://schemas.openxmlformats.org/officeDocument/2006/relationships/hyperlink" Target="https://www.ebsco.com/research-starters/history/collapse-silicon-valley-bank" TargetMode="External"/><Relationship Id="rId6" Type="http://schemas.openxmlformats.org/officeDocument/2006/relationships/hyperlink" Target="https://bitbo.io/calendar/etfs" TargetMode="External"/><Relationship Id="rId7" Type="http://schemas.openxmlformats.org/officeDocument/2006/relationships/hyperlink" Target="https://www.huri.harvard.edu/russo-ukrainian-war" TargetMode="External"/><Relationship Id="rId8" Type="http://schemas.openxmlformats.org/officeDocument/2006/relationships/hyperlink" Target="https://www.cnbc.com/2022/03/16/federal-reserve-meeting.html" TargetMode="External"/><Relationship Id="rId9" Type="http://schemas.openxmlformats.org/officeDocument/2006/relationships/hyperlink" Target="https://www.bitget.com/wiki/when-did-blackrock-file-for-bitcoin-etf" TargetMode="External"/><Relationship Id="rId10" Type="http://schemas.openxmlformats.org/officeDocument/2006/relationships/hyperlink" Target="https://www.binance.com/en/square/post/24257993709449" TargetMode="External"/><Relationship Id="rId11" Type="http://schemas.openxmlformats.org/officeDocument/2006/relationships/hyperlink" Target="https://www.facebook.com/Denver7News/posts/inflation-peaked-at-91-in-june-2022-last-month-it-was-42-and-in-april-2025-it-go/1470400548462021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n.algolia.com/api/v1/search_by_date?query=inflation&amp;tags=story&amp;hitsPerPage=20&amp;numericFilters=created_at_i%3E%3D1625097600%2Ccreated_at_i%3C%3D1640995199" TargetMode="External"/><Relationship Id="rId3" Type="http://schemas.openxmlformats.org/officeDocument/2006/relationships/hyperlink" Target="https://hn.algolia.com/api/v1/search_by_date?query=bitcoin&amp;tags=story&amp;hitsPerPage=20&amp;numericFilters=created_at_i%3E%3D1625097600%2Ccreated_at_i%3C%3D1640995199" TargetMode="External"/><Relationship Id="rId4" Type="http://schemas.openxmlformats.org/officeDocument/2006/relationships/hyperlink" Target="https://hn.algolia.com/api/v1/search_by_date?query=gold&amp;tags=story&amp;hitsPerPage=20&amp;numericFilters=created_at_i%3E%3D1625097600%2Ccreated_at_i%3C%3D1640995199" TargetMode="External"/><Relationship Id="rId5" Type="http://schemas.openxmlformats.org/officeDocument/2006/relationships/hyperlink" Target="https://gjia.georgetown.edu/society-culture/bitcoin-as-legal-tender-in-el-salvador-the-first-fifty-days" TargetMode="External"/><Relationship Id="rId6" Type="http://schemas.openxmlformats.org/officeDocument/2006/relationships/hyperlink" Target="https://www.youtube.com/watch?v=Ra-h3TfH3yk" TargetMode="External"/><Relationship Id="rId7" Type="http://schemas.openxmlformats.org/officeDocument/2006/relationships/hyperlink" Target="https://www.congress.gov/crs_external_products/IN/PDF/IN11792/IN11792.4.pdf" TargetMode="External"/><Relationship Id="rId8" Type="http://schemas.openxmlformats.org/officeDocument/2006/relationships/hyperlink" Target="https://hn.algolia.com/api/v1/search_by_date?query=russia&amp;tags=story&amp;hitsPerPage=20&amp;numericFilters=created_at_i%3E%3D1640995200%2Ccreated_at_i%3C%3D1656633599" TargetMode="External"/><Relationship Id="rId9" Type="http://schemas.openxmlformats.org/officeDocument/2006/relationships/hyperlink" Target="https://techcrunch.com/2024/03/05/bitcoin-hits-new-all-time-high-passing-69k-first-time-since-november-2021" TargetMode="External"/><Relationship Id="rId10" Type="http://schemas.openxmlformats.org/officeDocument/2006/relationships/hyperlink" Target="https://corpgov.law.harvard.edu/2023/05/22/anatomy-of-a-run-the-terra-luna-crash" TargetMode="External"/><Relationship Id="rId11" Type="http://schemas.openxmlformats.org/officeDocument/2006/relationships/hyperlink" Target="https://www.bloomberg.com/news/articles/2022-06-15/fed-hikes-rates-75-basis-points-intensifying-inflation-fight" TargetMode="External"/><Relationship Id="rId12" Type="http://schemas.openxmlformats.org/officeDocument/2006/relationships/hyperlink" Target="https://www.consumernotice.org/legal/crypto-bankruptcies/ftx" TargetMode="External"/><Relationship Id="rId13" Type="http://schemas.openxmlformats.org/officeDocument/2006/relationships/hyperlink" Target="https://www.sadis.com/insights/is-grayscales-court-victory-the-tipping-point-for-bitcoin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ongress.gov/crs_external_products/IF/HTML/IF12537.web.html" TargetMode="External"/><Relationship Id="rId3" Type="http://schemas.openxmlformats.org/officeDocument/2006/relationships/hyperlink" Target="https://nafme.org/blog/june-update-u-s-debt-ceiling-what-is-it-and-what-was-done-to-avoid-a-default" TargetMode="External"/><Relationship Id="rId4" Type="http://schemas.openxmlformats.org/officeDocument/2006/relationships/hyperlink" Target="https://www.cnbc.com/2024/09/18/fed-cuts-rates-september-2024-.html" TargetMode="External"/><Relationship Id="rId5" Type="http://schemas.openxmlformats.org/officeDocument/2006/relationships/hyperlink" Target="https://www.facebook.com/valuechampionsg/posts/gold-prices-hit-all-time-highs-in-march-2024-people-have-recognised-golds-value-/284819734671657" TargetMode="External"/><Relationship Id="rId6" Type="http://schemas.openxmlformats.org/officeDocument/2006/relationships/hyperlink" Target="https://www.reuters.com/technology/view-bitcoin-surges-above-100000-2024-12-05" TargetMode="External"/><Relationship Id="rId7" Type="http://schemas.openxmlformats.org/officeDocument/2006/relationships/hyperlink" Target="https://hn.algolia.com/api/v1/search_by_date?query=bitcoin+ETF&amp;tags=story&amp;hitsPerPage=20&amp;numericFilters=created_at_i%3E%3D1704067200%2Ccreated_at_i%3C%3D1719791999" TargetMode="External"/><Relationship Id="rId8" Type="http://schemas.openxmlformats.org/officeDocument/2006/relationships/hyperlink" Target="https://www.gold.org/goldhub/gold-focus/2025/06/central-bank-gold-buying-slowed-april" TargetMode="External"/><Relationship Id="rId9" Type="http://schemas.openxmlformats.org/officeDocument/2006/relationships/hyperlink" Target="https://www.youtube.com/watch?v=gLVmlny9d28" TargetMode="External"/><Relationship Id="rId10" Type="http://schemas.openxmlformats.org/officeDocument/2006/relationships/hyperlink" Target="https://www.lemonde.fr/en/international/article/2025/04/22/gold-price-hits-record-high-above-3-500-on-rush-to-safety_6740497_4.html" TargetMode="External"/><Relationship Id="rId11" Type="http://schemas.openxmlformats.org/officeDocument/2006/relationships/hyperlink" Target="https://www.cnbc.com/2025/08/11/trump-gold-tariffs-futures.html" TargetMode="External"/><Relationship Id="rId12" Type="http://schemas.openxmlformats.org/officeDocument/2006/relationships/hyperlink" Target="https://bullionexchanges.com/blog/precious-metals-react-to-liberation-day-tariffs-gold-retreats" TargetMode="External"/><Relationship Id="rId13" Type="http://schemas.openxmlformats.org/officeDocument/2006/relationships/hyperlink" Target="https://en.wikipedia.org/wiki/U.S._Strategic_Bitcoin_Reserve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bcphiladelphia.com/news/business/money-report/bitcoin-jumps-to-a-new-record-above-109000-as-traders-cheer-trump-inauguration-meme-coins/4083071" TargetMode="External"/><Relationship Id="rId3" Type="http://schemas.openxmlformats.org/officeDocument/2006/relationships/hyperlink" Target="https://www.gold.org/goldhub/research/gold-mid-year-outlook-2026" TargetMode="External"/><Relationship Id="rId4" Type="http://schemas.openxmlformats.org/officeDocument/2006/relationships/hyperlink" Target="https://www.aljazeera.com/economy/2026/1/29/gold-surges-past-5500-amid-iran-tensions-weakening-us-dollar" TargetMode="External"/><Relationship Id="rId5" Type="http://schemas.openxmlformats.org/officeDocument/2006/relationships/hyperlink" Target="https://www.cnn.com/2025/10/11/business/trump-tariffs-crypto-selloff" TargetMode="External"/><Relationship Id="rId6" Type="http://schemas.openxmlformats.org/officeDocument/2006/relationships/hyperlink" Target="https://www.statista.com/statistics/326707/bitcoin-price-index" TargetMode="External"/><Relationship Id="rId7" Type="http://schemas.openxmlformats.org/officeDocument/2006/relationships/hyperlink" Target="https://www.instagram.com/p/DWNU68mGuHh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2121408"/>
            <a:ext cx="960120" cy="54864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395728"/>
            <a:ext cx="10984687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2733"/>
                </a:solidFill>
                <a:latin typeface="Helvetica Neue"/>
                <a:ea typeface="PingFang SC"/>
              </a:rPr>
              <a:t>黄金是更纯粹的避险资产，比特币是风险偏好的杠杆表达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4160520"/>
            <a:ext cx="1098468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B81"/>
                </a:solidFill>
                <a:latin typeface="Helvetica Neue"/>
                <a:ea typeface="PingFang SC"/>
              </a:rPr>
              <a:t>2021–2026 五年回测证据：地缘政治、货币政策、加密危机三类场景对比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126480"/>
            <a:ext cx="1098468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81"/>
                </a:solidFill>
                <a:latin typeface="Helvetica Neue"/>
                <a:ea typeface="PingFang SC"/>
              </a:rPr>
              <a:t>finance-agent 研究产物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84367" y="2697480"/>
            <a:ext cx="822960" cy="50292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971800"/>
            <a:ext cx="109846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F2733"/>
                </a:solidFill>
                <a:latin typeface="Helvetica Neue"/>
                <a:ea typeface="PingFang SC"/>
              </a:rPr>
              <a:t>分析框架：三类宏观场景 × 五维对比矩阵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溯源：ev-s-20260705-9270-1、ev-s-20260705-9270-2  ｜  场景分类：地缘政治冲击 / 货币政策转向 / 加密内生危机；五维对比：避险可靠性、抗通胀有效性、波动率特征、事件敏感度、配置角色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地缘政治冲击：黄金系统性避险，比特币方向不定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俄乌战争（2022.02）：黄金+15.8%反弹至$2,070，BTC先涨后跌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哈马斯-以色列冲突（2023.10）：黄金涨至$2,050，BTC同步涨至$44,000（ETF叙事叠加）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解放日关税（2025.04）：黄金冲$3,160后流动性抛售回落，BTC跌至$74,000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黄金在地缘冲击中表现出持续避险买盘；比特币方向受风险偏好与监管预期双重支配，避险属性不稳定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溯源：ev-s-20260705-9270-8、ev-s-20260705-9270-25、ev-s-20260705-9270-35、ev-s-20260705-9270-3、ev-s-20260705-9270-4  ｜  黄金在三次主要地缘事件中均出现避险上涨；BTC仅在SVB银行业危机场景中表现纯粹避险。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货币政策转向：宽松利好两者，紧缩黄金更抗跌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2022加息周期：黄金-15.2%回撤（$2,070→$1,630），BTC-73%回撤（$47,000→$16,000）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2024降息周期：黄金突破$2,600，BTC从$60,000涨至$100,000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黄金对实际利率敏感但波动温和；比特币对流动性极度敏感，方向一致但振幅放大3-5倍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Taper与加息初期黄金出现'卖事实'反弹，市场预期管理效应明显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溯源：ev-s-20260705-9270-9、ev-s-20260705-9270-22、ev-s-20260705-9270-27、ev-s-20260705-9270-18、ev-s-20260705-9270-3、ev-s-20260705-9270-4  ｜  黄金在加息周期最大回撤约20%，比特币约73%。降息周期两者同涨但比特币弹性更大。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加密内生危机：比特币独自承压，黄金完全免疫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Terra/LUNA崩盘（2022.05）：BTC从$40,000跌至$29,000，黄金稳定在$1,850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FTX破产（2022.11）：BTC暴跌至$15,500周期低点，黄金横盘$1,750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加密危机期间黄金波动率无异常升高，两类资产相关性接近零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比特币的机构化程度加深后，加密内生风险仍无法向黄金传导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溯源：ev-s-20260705-9270-21、ev-s-20260705-9270-23、ev-s-20260705-9270-3、ev-s-20260705-9270-4  ｜  FTX破产后BTC确认-10.01%极端下跌（-5.4σ），黄金同期变化点均为'none'对齐——完全脱钩。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800" b="1">
                <a:solidFill>
                  <a:srgbClr val="1F2733"/>
                </a:solidFill>
                <a:latin typeface="Helvetica Neue"/>
                <a:ea typeface="PingFang SC"/>
              </a:rPr>
              <a:t>五维对比矩阵：黄金 vs 比特币（2021–2026）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" y="1371600"/>
          <a:ext cx="10984685" cy="2761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20951"/>
                <a:gridCol w="2554578"/>
                <a:gridCol w="2554578"/>
                <a:gridCol w="255457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对比维度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黄金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比特币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优势方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避险可靠性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地缘冲击中系统性上涨，方向一致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方向不定（地缘↑、加密危机↓）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黄金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抗通胀有效性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CPI 9.1%后回撤但长期创新高$3,500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通胀高位期间从$69K跌至$16K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黄金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波动率特征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年化约15-18%，最大回撤约20%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年化约60-80%，多次15-20%回撤为常规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黄金（稳定性）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事件敏感度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宏观政策与地缘政治驱动为主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监管事件（ETF、大选）驱动为主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场景依赖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配置角色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核心避险/通胀对冲底仓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风险偏好放大器/替代资产期权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互补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与美股相关性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危机期负相关或低正相关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大部分时段与纳指高正相关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黄金（分散化）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溯源：ev-s-20260705-9270-1、ev-s-20260705-9270-2、ev-s-20260705-9270-3、ev-s-20260705-9270-4  ｜  各维度结论基于五年期变化点检测与事件对齐矩阵的系统性比对。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唯一共振场景：银行业危机中的替代资产属性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SVB破产（2023.03）：黄金+15.4%反弹，BTC+19.9%反弹，同步性最强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触发逻辑：传统金融体系信心动摇→资金同时流入黄金与BTC作为替代资产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但随后分化：黄金在$2,000上方整固，BTC继续受ETF叙事驱动上行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此次共振是五年内唯一一次两者在同一事件中表现出同向、同逻辑的避险特征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溯源：ev-s-20260705-9270-6、ev-s-20260705-9270-3、ev-s-20260705-9270-4  ｜  SVB事件中对齐矩阵判定黄金'partial'（下跌对应获利回吐），BTC'match'（+19.9%反弹），但整体方向均为上行。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抗通胀叙事检验：黄金兑现，比特币证伪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2022年CPI 9.1%峰值：黄金年内最大回撤20%但次年创新高，BTC跌73%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2025年关税冲击：黄金突破$3,500（年内+31%），BTC同期在$74K-$93K区间震荡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比特币'数字黄金'叙事在通胀高企阶段被高利率压制，通胀→加息→风险资产下跌传导链主导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黄金长期通胀对冲属性稳健（5年$1,800→$3,500），BTC通胀对冲取决于货币政策方向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溯源：ev-s-20260705-9270-12、ev-s-20260705-9270-33、ev-s-20260705-9270-35、ev-s-20260705-9270-3、ev-s-20260705-9270-4  ｜  黄金5年累计涨幅约94%，BTC同期约57%但路径波动极大。黄金$3,500里程碑对应全球央行购金+美元走弱+贸易战三重驱动。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配置含义：互补而非替代，场景决定权重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纯避险需求（地缘风险/金融恐慌）：黄金为首选，BTC提供非对称上行期权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宽松周期配置：两者均可增配，BTC弹性更大但需承受更高波动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紧缩周期配置：黄金优于BTC，历史最大回撤20% vs 73%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加密内生风险是BTC独有的尾部风险来源，黄金完全不受影响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建议以黄金为核心避险底仓，BTC作为风险偏好驱动的卫星配置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溯源：ev-s-20260705-9270-1、ev-s-20260705-9270-2、ev-s-20260705-9270-3、ev-s-20260705-9270-4  ｜  以上为研究框架结论，不构成具体投资建议。配置权重需结合个人风险承受能力与投资期限。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局限性：数据缺口与方法论边界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黄金驱动因素不完整：央行购金、实物需求、珠宝消费等数据未纳入事件列表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2024年8月全球风险资产抛售（日元套息交易）缺事件条目，BTC多个变化点无法归因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2025H2–2026H1事件列表空白，最后8个黄金变化点无事件可对齐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对齐窗口±20交易日设定可能导致部分关联遗漏或误判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F2733"/>
                </a:solidFill>
                <a:latin typeface="Helvetica Neue"/>
                <a:ea typeface="PingFang SC"/>
              </a:rPr>
              <a:t>五年期仅覆盖一个加息-降息完整周期，结论可能受周期特异性影响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溯源：ev-s-20260705-9270-1、ev-s-20260705-9270-2  ｜  上述缺口已在上游对齐材料中声明。建议后续迭代补充黄金特有事件源与2025H2后事件。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ev-s-20260705-9270-1［market_data］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2"/>
                <a:ea typeface="PingFang SC"/>
              </a:rPr>
              <a:t>https://query1.finance.yahoo.com/v8/finance/chart/GC=F?period1=1625443200&amp;period2=1783296000&amp;interval=1d&amp;events=history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（2026-07-05T12:59:55+00:00）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ev-s-20260705-9270-2［market_data］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3"/>
                <a:ea typeface="PingFang SC"/>
              </a:rPr>
              <a:t>https://query1.finance.yahoo.com/v8/finance/chart/BTC-USD?period1=1625443200&amp;period2=1783296000&amp;interval=1d&amp;events=history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（2026-07-05T12:59:56+00:00）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ev-s-20260705-9270-3［computation］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evidence:ev-s-20260705-9270-1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（2026-07-05T12:59:59+00:00）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ev-s-20260705-9270-4［computation］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evidence:ev-s-20260705-9270-2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（2026-07-05T12:59:59+00:00）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ev-s-20260705-9270-5［search］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4"/>
                <a:ea typeface="PingFang SC"/>
              </a:rPr>
              <a:t>https://www.lseg.com/en/ftse-russell/research/bitcoin-halving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（2026-07-05T13:01:39+00:00）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ev-s-20260705-9270-6［search］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5"/>
                <a:ea typeface="PingFang SC"/>
              </a:rPr>
              <a:t>https://www.ebsco.com/research-starters/history/collapse-silicon-valley-bank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（2026-07-05T13:01:39+00:00）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ev-s-20260705-9270-7［search］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6"/>
                <a:ea typeface="PingFang SC"/>
              </a:rPr>
              <a:t>https://bitbo.io/calendar/etfs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（2026-07-05T13:01:39+00:00）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ev-s-20260705-9270-8［search］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7"/>
                <a:ea typeface="PingFang SC"/>
              </a:rPr>
              <a:t>https://www.huri.harvard.edu/russo-ukrainian-war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（2026-07-05T13:01:39+00:00）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ev-s-20260705-9270-9［search］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8"/>
                <a:ea typeface="PingFang SC"/>
              </a:rPr>
              <a:t>https://www.cnbc.com/2022/03/16/federal-reserve-meeting.html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（2026-07-05T13:01:53+00:00）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ev-s-20260705-9270-10［search］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9"/>
                <a:ea typeface="PingFang SC"/>
              </a:rPr>
              <a:t>https://www.bitget.com/wiki/when-did-blackrock-file-for-bitcoin-etf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（2026-07-05T13:01:54+00:00）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ev-s-20260705-9270-11［search］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0"/>
                <a:ea typeface="PingFang SC"/>
              </a:rPr>
              <a:t>https://www.binance.com/en/square/post/24257993709449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（2026-07-05T13:01:54+00:00）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ev-s-20260705-9270-12［search］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1"/>
                <a:ea typeface="PingFang SC"/>
              </a:rPr>
              <a:t>https://www.facebook.com/Denver7News/posts/inflation-peaked-at-91-in-june-2022-last-month-it-was-42-and-in-april-2025-it-go/1470400548462021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（2026-07-05T13:01:54+00:00）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ev-s-20260705-9270-13［news］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2"/>
                <a:ea typeface="PingFang SC"/>
              </a:rPr>
              <a:t>https://hn.algolia.com/api/v1/search_by_date?query=inflation&amp;tags=story&amp;hitsPerPage=20&amp;numericFilters=created_at_i%3E%3D1625097600%2Ccreated_at_i%3C%3D1640995199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（2026-07-05T13:02:16+00:00）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ev-s-20260705-9270-14［news］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3"/>
                <a:ea typeface="PingFang SC"/>
              </a:rPr>
              <a:t>https://hn.algolia.com/api/v1/search_by_date?query=bitcoin&amp;tags=story&amp;hitsPerPage=20&amp;numericFilters=created_at_i%3E%3D1625097600%2Ccreated_at_i%3C%3D1640995199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（2026-07-05T13:02:16+00:00）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ev-s-20260705-9270-15［news］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4"/>
                <a:ea typeface="PingFang SC"/>
              </a:rPr>
              <a:t>https://hn.algolia.com/api/v1/search_by_date?query=gold&amp;tags=story&amp;hitsPerPage=20&amp;numericFilters=created_at_i%3E%3D1625097600%2Ccreated_at_i%3C%3D1640995199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（2026-07-05T13:02:16+00:00）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ev-s-20260705-9270-16［search］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5"/>
                <a:ea typeface="PingFang SC"/>
              </a:rPr>
              <a:t>https://gjia.georgetown.edu/society-culture/bitcoin-as-legal-tender-in-el-salvador-the-first-fifty-days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（2026-07-05T13:02:31+00:00）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ev-s-20260705-9270-17［search］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6"/>
                <a:ea typeface="PingFang SC"/>
              </a:rPr>
              <a:t>https://www.youtube.com/watch?v=Ra-h3TfH3yk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（2026-07-05T13:02:31+00:00）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ev-s-20260705-9270-18［search］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7"/>
                <a:ea typeface="PingFang SC"/>
              </a:rPr>
              <a:t>https://www.congress.gov/crs_external_products/IN/PDF/IN11792/IN11792.4.pdf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（2026-07-05T13:02:32+00:00）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ev-s-20260705-9270-19［news］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8"/>
                <a:ea typeface="PingFang SC"/>
              </a:rPr>
              <a:t>https://hn.algolia.com/api/v1/search_by_date?query=russia&amp;tags=story&amp;hitsPerPage=20&amp;numericFilters=created_at_i%3E%3D1640995200%2Ccreated_at_i%3C%3D1656633599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（2026-07-05T13:02:36+00:00）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ev-s-20260705-9270-20［search］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9"/>
                <a:ea typeface="PingFang SC"/>
              </a:rPr>
              <a:t>https://techcrunch.com/2024/03/05/bitcoin-hits-new-all-time-high-passing-69k-first-time-since-november-2021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（2026-07-05T13:02:37+00:00）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ev-s-20260705-9270-21［search］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0"/>
                <a:ea typeface="PingFang SC"/>
              </a:rPr>
              <a:t>https://corpgov.law.harvard.edu/2023/05/22/anatomy-of-a-run-the-terra-luna-crash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（2026-07-05T13:03:00+00:00）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ev-s-20260705-9270-22［search］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1"/>
                <a:ea typeface="PingFang SC"/>
              </a:rPr>
              <a:t>https://www.bloomberg.com/news/articles/2022-06-15/fed-hikes-rates-75-basis-points-intensifying-inflation-fight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（2026-07-05T13:03:01+00:00）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ev-s-20260705-9270-23［search］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2"/>
                <a:ea typeface="PingFang SC"/>
              </a:rPr>
              <a:t>https://www.consumernotice.org/legal/crypto-bankruptcies/ftx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（2026-07-05T13:03:01+00:00）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ev-s-20260705-9270-24［search］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3"/>
                <a:ea typeface="PingFang SC"/>
              </a:rPr>
              <a:t>https://www.sadis.com/insights/is-grayscales-court-victory-the-tipping-point-for-bitcoin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（2026-07-05T13:03:20+00:00）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ev-s-20260705-9270-25［search］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2"/>
                <a:ea typeface="PingFang SC"/>
              </a:rPr>
              <a:t>https://www.congress.gov/crs_external_products/IF/HTML/IF12537.web.html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（2026-07-05T13:03:21+00:00）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ev-s-20260705-9270-26［search］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3"/>
                <a:ea typeface="PingFang SC"/>
              </a:rPr>
              <a:t>https://nafme.org/blog/june-update-u-s-debt-ceiling-what-is-it-and-what-was-done-to-avoid-a-default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（2026-07-05T13:03:21+00:00）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ev-s-20260705-9270-27［search］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4"/>
                <a:ea typeface="PingFang SC"/>
              </a:rPr>
              <a:t>https://www.cnbc.com/2024/09/18/fed-cuts-rates-september-2024-.html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（2026-07-05T13:03:41+00:00）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ev-s-20260705-9270-28［search］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5"/>
                <a:ea typeface="PingFang SC"/>
              </a:rPr>
              <a:t>https://www.facebook.com/valuechampionsg/posts/gold-prices-hit-all-time-highs-in-march-2024-people-have-recognised-golds-value-/284819734671657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（2026-07-05T13:03:41+00:00）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ev-s-20260705-9270-29［search］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6"/>
                <a:ea typeface="PingFang SC"/>
              </a:rPr>
              <a:t>https://www.reuters.com/technology/view-bitcoin-surges-above-100000-2024-12-05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（2026-07-05T13:03:41+00:00）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ev-s-20260705-9270-30［news］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7"/>
                <a:ea typeface="PingFang SC"/>
              </a:rPr>
              <a:t>https://hn.algolia.com/api/v1/search_by_date?query=bitcoin+ETF&amp;tags=story&amp;hitsPerPage=20&amp;numericFilters=created_at_i%3E%3D1704067200%2Ccreated_at_i%3C%3D1719791999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（2026-07-05T13:03:48+00:00）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ev-s-20260705-9270-31［search］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8"/>
                <a:ea typeface="PingFang SC"/>
              </a:rPr>
              <a:t>https://www.gold.org/goldhub/gold-focus/2025/06/central-bank-gold-buying-slowed-april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（2026-07-05T13:03:49+00:00）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ev-s-20260705-9270-32［search］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9"/>
                <a:ea typeface="PingFang SC"/>
              </a:rPr>
              <a:t>https://www.youtube.com/watch?v=gLVmlny9d28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（2026-07-05T13:03:49+00:00）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ev-s-20260705-9270-33［search］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0"/>
                <a:ea typeface="PingFang SC"/>
              </a:rPr>
              <a:t>https://www.lemonde.fr/en/international/article/2025/04/22/gold-price-hits-record-high-above-3-500-on-rush-to-safety_6740497_4.html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（2026-07-05T13:04:12+00:00）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ev-s-20260705-9270-34［search］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1"/>
                <a:ea typeface="PingFang SC"/>
              </a:rPr>
              <a:t>https://www.cnbc.com/2025/08/11/trump-gold-tariffs-futures.html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（2026-07-05T13:04:12+00:00）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ev-s-20260705-9270-35［search］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2"/>
                <a:ea typeface="PingFang SC"/>
              </a:rPr>
              <a:t>https://bullionexchanges.com/blog/precious-metals-react-to-liberation-day-tariffs-gold-retreats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（2026-07-05T13:04:13+00:00）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ev-s-20260705-9270-36［search］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13"/>
                <a:ea typeface="PingFang SC"/>
              </a:rPr>
              <a:t>https://en.wikipedia.org/wiki/U.S._Strategic_Bitcoin_Reserve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（2026-07-05T13:04:19+00:00）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ev-s-20260705-9270-37［search］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2"/>
                <a:ea typeface="PingFang SC"/>
              </a:rPr>
              <a:t>https://www.nbcphiladelphia.com/news/business/money-report/bitcoin-jumps-to-a-new-record-above-109000-as-traders-cheer-trump-inauguration-meme-coins/4083071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（2026-07-05T13:04:19+00:00）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ev-s-20260705-9270-38［search］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3"/>
                <a:ea typeface="PingFang SC"/>
              </a:rPr>
              <a:t>https://www.gold.org/goldhub/research/gold-mid-year-outlook-2026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（2026-07-05T13:04:20+00:00）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ev-s-20260705-9270-39［search］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4"/>
                <a:ea typeface="PingFang SC"/>
              </a:rPr>
              <a:t>https://www.aljazeera.com/economy/2026/1/29/gold-surges-past-5500-amid-iran-tensions-weakening-us-dollar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（2026-07-05T13:04:44+00:00）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ev-s-20260705-9270-40［search］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5"/>
                <a:ea typeface="PingFang SC"/>
              </a:rPr>
              <a:t>https://www.cnn.com/2025/10/11/business/trump-tariffs-crypto-selloff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（2026-07-05T13:04:44+00:00）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ev-s-20260705-9270-41［search］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6"/>
                <a:ea typeface="PingFang SC"/>
              </a:rPr>
              <a:t>https://www.statista.com/statistics/326707/bitcoin-price-index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（2026-07-05T13:04:53+00:00）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ev-s-20260705-9270-42［search］</a:t>
            </a:r>
            <a:r>
              <a:rPr sz="1050" b="0">
                <a:solidFill>
                  <a:srgbClr val="2A63E8"/>
                </a:solidFill>
                <a:latin typeface="Helvetica Neue"/>
                <a:hlinkClick r:id="rId7"/>
                <a:ea typeface="PingFang SC"/>
              </a:rPr>
              <a:t>https://www.instagram.com/p/DWNU68mGuHh</a:t>
            </a: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（2026-07-05T13:04:54+00:00）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黄金 vs 比特币 避险/抗通胀决策框架（2021-2026）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